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0d381ac-8d45-5989-9343-098069aac3e2}">
          <p14:sldIdLst>
            <p14:sldId id="256"/>
            <p14:sldId id="257"/>
          </p14:sldIdLst>
        </p14:section>
        <p14:section name="Performance evaluation" id="{4fdc4ba5-3bb4-5e63-4546-a8f40481af51}">
          <p14:sldIdLst>
            <p14:sldId id="258"/>
            <p14:sldId id="259"/>
            <p14:sldId id="260"/>
            <p14:sldId id="261"/>
            <p14:sldId id="262"/>
            <p14:sldId id="263"/>
          </p14:sldIdLst>
        </p14:section>
        <p14:section name="Comparison and conclusion" id="{a5e11f82-0d9e-eba3-265f-746ef4fb4c34}">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Shivaansh: Good morning ma'am. I'm Shivaansh and this is Devansh. Our project is a CPU scheduler that predicts how long a program will run next and uses that prediction to decide which program runs and for how long. We built it in our own Python simulator and tested it across 660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Shivaansh: The classical algorithms are static. FCFS gives 17 ms on the 24, 3, 3 example, SJF gives 3 ms but needs the future, Round Robin's quantum is fixed, and exponential averaging lags after a phase change. Devansh: our idea is to predict the next burst and use it twice: to choose who runs, with ageing, and to set the quantum from the 80% rule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Shivaansh: We ran 6 workload types, 11 schedulers and 10 seeds, 660 paired runs, so every scheduler sees exactly the same processes. The model and the ageing weight were tuned on separate seeds, so the results are not tuned to the test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Devansh: Before any machine learning, we checked the simulator against the textbook: FCFS exactly 17, shortest first 3, Round Robin 5.67 and SRTF 6.5. All 37 tests pass, including that every scheduler gets the same total CPU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Shivaansh: On the mixed workload over ten seeds, our scheduler waits 1,786 ms against 2,460 ms for SJF with exponential averaging, 27% less, and it is better on all ten seeds. It closes 54% of the gap to the oracle, which knows the future, and needs 61% fewer context switches than Round Robin with 5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Devansh: This is the live demo. All 11 schedulers run on the same workload. Our scheduler, highlighted, waits about 1,900 ms against 2,800 for SJF, with a lower worst case and far fewer context switches than Round Robin.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Shivaansh: Across workloads, the clear win is the mixed workload, better on every seed. Ageing halves the worst-case wait on CPU-bound and phase-changing work. It is 14% worse on all-I/O workloads, where bursts are tiny and random, and level under overload.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Devansh: The quantum follows the workload, about 6 ms for interactive, close to 100 ms for CPU-bound and 3.5 ms for I/O-bound. Switching parts off shows that ageing controls the worst case, the adaptive quantum matters for long bursts, and prediction alone gives only 5%. The benefit comes from using the prediction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Shivaansh: Compared with the existing schedulers on the mixed workload, ours has the lowest average wait except SRTF, which is 3% better on average but has a 35% higher worst case and more switches. MLFQ comes close but needs twice the context switches. And unlike the dynamic-quantum papers we studied, we never assume burst lengths are 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Shivaansh: To conclude, applying the textbook quantum rule automatically from predictions works: 27% less waiting on mixed workloads, and ageing halves the worst case. It does not help when bursts are short and random, and most of the gain comes from using the prediction twice. Next steps are real traces and moving the controller into xv6. Thank you, ma'am.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6324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114300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rtlCol="0"/>
          <a:lstStyle>
            <a:lvl1pPr algn="l" indent="0" marL="0">
              <a:buNone/>
              <a:defRPr lang="en-US" sz="26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Adaptive CPU Scheduling  ·  Course Project Review 3</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16324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rtlCol="0"/>
          <a:lstStyle>
            <a:lvl1pPr algn="l" indent="0" marL="0">
              <a:buNone/>
              <a:defRPr lang="en-US" sz="2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2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panel"/>
          <p:cNvSpPr/>
          <p:nvPr/>
        </p:nvSpPr>
        <p:spPr>
          <a:xfrm>
            <a:off x="548640" y="411480"/>
            <a:ext cx="3200400" cy="1051560"/>
          </a:xfrm>
          <a:prstGeom prst="roundRect">
            <a:avLst>
              <a:gd name="adj" fmla="val 6957"/>
            </a:avLst>
          </a:prstGeom>
          <a:solidFill>
            <a:schemeClr val="bg1"/>
          </a:solidFill>
          <a:ln w="12700">
            <a:solidFill>
              <a:schemeClr val="bg1"/>
            </a:solidFill>
            <a:prstDash val="solid"/>
          </a:ln>
        </p:spPr>
      </p:sp>
      <p:pic>
        <p:nvPicPr>
          <p:cNvPr id="3" name="VIT logo" descr="/Users/Shivaansh/Desktop/ai_cpu_scheduler/docs/reviews/assets/vit_logo.png">    </p:cNvPr>
          <p:cNvPicPr>
            <a:picLocks noChangeAspect="1"/>
          </p:cNvPicPr>
          <p:nvPr/>
        </p:nvPicPr>
        <p:blipFill>
          <a:blip r:embed="rId1"/>
          <a:stretch>
            <a:fillRect/>
          </a:stretch>
        </p:blipFill>
        <p:spPr>
          <a:xfrm>
            <a:off x="658368" y="484632"/>
            <a:ext cx="2980944" cy="914400"/>
          </a:xfrm>
          <a:prstGeom prst="rect">
            <a:avLst/>
          </a:prstGeom>
        </p:spPr>
      </p:pic>
      <p:sp>
        <p:nvSpPr>
          <p:cNvPr id="4" name="Text 1"/>
          <p:cNvSpPr txBox="1"/>
          <p:nvPr/>
        </p:nvSpPr>
        <p:spPr>
          <a:xfrm>
            <a:off x="548640" y="1508760"/>
            <a:ext cx="8046720" cy="274320"/>
          </a:xfrm>
          <a:prstGeom prst="rect">
            <a:avLst/>
          </a:prstGeom>
          <a:noFill/>
          <a:ln/>
        </p:spPr>
        <p:txBody>
          <a:bodyPr wrap="square" lIns="0" tIns="0" rIns="0" bIns="0" rtlCol="0" anchor="ctr"/>
          <a:lstStyle/>
          <a:p>
            <a:pPr indent="0" marL="0">
              <a:buNone/>
            </a:pPr>
            <a:r>
              <a:rPr lang="en-US" sz="1300" dirty="0">
                <a:solidFill>
                  <a:schemeClr val="accent5"/>
                </a:solidFill>
              </a:rPr>
              <a:t>Operating System (BCSE303P)  ·  Course Project – Review 3</a:t>
            </a:r>
            <a:endParaRPr lang="en-US" sz="1300" dirty="0"/>
          </a:p>
        </p:txBody>
      </p:sp>
      <p:sp>
        <p:nvSpPr>
          <p:cNvPr id="5" name="Text 0"/>
          <p:cNvSpPr/>
          <p:nvPr>
            <p:ph idx="100" type="title" hasCustomPrompt="1"/>
          </p:nvPr>
        </p:nvSpPr>
        <p:spPr>
          <a:xfrm>
            <a:off x="548640" y="1828800"/>
            <a:ext cx="8046720" cy="114300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Adaptive CPU Scheduling Using Predicted Burst Lengths</a:t>
            </a:r>
            <a:endParaRPr lang="en-US" sz="3200" dirty="0"/>
          </a:p>
        </p:txBody>
      </p:sp>
      <p:sp>
        <p:nvSpPr>
          <p:cNvPr id="6" name="Text 3"/>
          <p:cNvSpPr txBox="1"/>
          <p:nvPr/>
        </p:nvSpPr>
        <p:spPr>
          <a:xfrm>
            <a:off x="548640" y="3017520"/>
            <a:ext cx="8046720" cy="320040"/>
          </a:xfrm>
          <a:prstGeom prst="rect">
            <a:avLst/>
          </a:prstGeom>
          <a:noFill/>
          <a:ln/>
        </p:spPr>
        <p:txBody>
          <a:bodyPr wrap="square" lIns="0" tIns="0" rIns="0" bIns="0" rtlCol="0" anchor="ctr"/>
          <a:lstStyle/>
          <a:p>
            <a:pPr indent="0" marL="0">
              <a:buNone/>
            </a:pPr>
            <a:r>
              <a:rPr lang="en-US" sz="1500" dirty="0">
                <a:solidFill>
                  <a:schemeClr val="accent5"/>
                </a:solidFill>
              </a:rPr>
              <a:t>Performance evaluation, comparison with existing systems, conclusion</a:t>
            </a:r>
            <a:endParaRPr lang="en-US" sz="1500" dirty="0"/>
          </a:p>
        </p:txBody>
      </p:sp>
      <p:sp>
        <p:nvSpPr>
          <p:cNvPr id="7" name="Text 4"/>
          <p:cNvSpPr txBox="1"/>
          <p:nvPr/>
        </p:nvSpPr>
        <p:spPr>
          <a:xfrm>
            <a:off x="548640" y="3977640"/>
            <a:ext cx="8046720" cy="274320"/>
          </a:xfrm>
          <a:prstGeom prst="rect">
            <a:avLst/>
          </a:prstGeom>
          <a:noFill/>
          <a:ln/>
        </p:spPr>
        <p:txBody>
          <a:bodyPr wrap="square" lIns="0" tIns="0" rIns="0" bIns="0" rtlCol="0" anchor="ctr"/>
          <a:lstStyle/>
          <a:p>
            <a:pPr indent="0" marL="0">
              <a:buNone/>
            </a:pPr>
            <a:r>
              <a:rPr lang="en-US" sz="1400" b="1" dirty="0">
                <a:solidFill>
                  <a:schemeClr val="bg1"/>
                </a:solidFill>
              </a:rPr>
              <a:t>Shivaansh Aggarwal (24BCE0883)   ·   Devansh Sharma (24BCE0717)</a:t>
            </a:r>
            <a:endParaRPr lang="en-US" sz="1400" dirty="0"/>
          </a:p>
        </p:txBody>
      </p:sp>
      <p:sp>
        <p:nvSpPr>
          <p:cNvPr id="8" name="Text 5"/>
          <p:cNvSpPr txBox="1"/>
          <p:nvPr/>
        </p:nvSpPr>
        <p:spPr>
          <a:xfrm>
            <a:off x="548640" y="4297680"/>
            <a:ext cx="8046720" cy="274320"/>
          </a:xfrm>
          <a:prstGeom prst="rect">
            <a:avLst/>
          </a:prstGeom>
          <a:noFill/>
          <a:ln/>
        </p:spPr>
        <p:txBody>
          <a:bodyPr wrap="square" lIns="0" tIns="0" rIns="0" bIns="0" rtlCol="0" anchor="ctr"/>
          <a:lstStyle/>
          <a:p>
            <a:pPr indent="0" marL="0">
              <a:buNone/>
            </a:pPr>
            <a:r>
              <a:rPr lang="en-US" sz="1300" dirty="0">
                <a:solidFill>
                  <a:schemeClr val="accent5"/>
                </a:solidFill>
              </a:rPr>
              <a:t>Slot L15+L16   ·   Faculty: Dr. Anisha M. Lal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Recap: the problem and our approach</a:t>
            </a:r>
            <a:endParaRPr lang="en-US" sz="2600" dirty="0"/>
          </a:p>
        </p:txBody>
      </p:sp>
      <p:sp>
        <p:nvSpPr>
          <p:cNvPr id="3" name="Problem card"/>
          <p:cNvSpPr/>
          <p:nvPr/>
        </p:nvSpPr>
        <p:spPr>
          <a:xfrm>
            <a:off x="457200" y="1005840"/>
            <a:ext cx="3931920" cy="3520440"/>
          </a:xfrm>
          <a:prstGeom prst="roundRect">
            <a:avLst>
              <a:gd name="adj" fmla="val 2078"/>
            </a:avLst>
          </a:prstGeom>
          <a:solidFill>
            <a:schemeClr val="bg2"/>
          </a:solidFill>
          <a:ln w="12700">
            <a:solidFill>
              <a:schemeClr val="bg2"/>
            </a:solidFill>
            <a:prstDash val="solid"/>
          </a:ln>
        </p:spPr>
      </p:sp>
      <p:sp>
        <p:nvSpPr>
          <p:cNvPr id="4" name="Text 2"/>
          <p:cNvSpPr txBox="1"/>
          <p:nvPr/>
        </p:nvSpPr>
        <p:spPr>
          <a:xfrm>
            <a:off x="685800" y="1143000"/>
            <a:ext cx="3566160" cy="32004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The problem</a:t>
            </a:r>
            <a:endParaRPr lang="en-US" sz="1700" dirty="0"/>
          </a:p>
        </p:txBody>
      </p:sp>
      <p:sp>
        <p:nvSpPr>
          <p:cNvPr id="5" name="Text 3"/>
          <p:cNvSpPr txBox="1"/>
          <p:nvPr/>
        </p:nvSpPr>
        <p:spPr>
          <a:xfrm>
            <a:off x="685800" y="1554480"/>
            <a:ext cx="3566160" cy="28346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FCFS ignores burst length: bursts 24, 3, 3 ms give a 17 ms average wait</a:t>
            </a:r>
            <a:endParaRPr lang="en-US" sz="1300" dirty="0"/>
          </a:p>
          <a:p>
            <a:pPr marL="177800" indent="-177800">
              <a:spcAft>
                <a:spcPts val="600"/>
              </a:spcAft>
              <a:buSzPct val="100000"/>
              <a:buChar char="•"/>
            </a:pPr>
            <a:r>
              <a:rPr lang="en-US" sz="1300" dirty="0">
                <a:solidFill>
                  <a:schemeClr val="tx1"/>
                </a:solidFill>
              </a:rPr>
              <a:t>SJF is optimal (3 ms) but needs the next burst length, which the OS does not know</a:t>
            </a:r>
            <a:endParaRPr lang="en-US" sz="1300" dirty="0"/>
          </a:p>
          <a:p>
            <a:pPr marL="177800" indent="-177800">
              <a:spcAft>
                <a:spcPts val="600"/>
              </a:spcAft>
              <a:buSzPct val="100000"/>
              <a:buChar char="•"/>
            </a:pPr>
            <a:r>
              <a:rPr lang="en-US" sz="1300" dirty="0">
                <a:solidFill>
                  <a:schemeClr val="tx1"/>
                </a:solidFill>
              </a:rPr>
              <a:t>Round Robin's quantum is fixed by hand and never revisited</a:t>
            </a:r>
            <a:endParaRPr lang="en-US" sz="1300" dirty="0"/>
          </a:p>
          <a:p>
            <a:pPr marL="177800" indent="-177800">
              <a:spcAft>
                <a:spcPts val="600"/>
              </a:spcAft>
              <a:buSzPct val="100000"/>
              <a:buChar char="•"/>
            </a:pPr>
            <a:r>
              <a:rPr lang="en-US" sz="1300" dirty="0">
                <a:solidFill>
                  <a:schemeClr val="tx1"/>
                </a:solidFill>
              </a:rPr>
              <a:t>Exponential averaging lags: bursts 2, 2, 2, 2, 60 give guesses 2, 31, 45.5</a:t>
            </a:r>
            <a:endParaRPr lang="en-US" sz="1300" dirty="0"/>
          </a:p>
        </p:txBody>
      </p:sp>
      <p:sp>
        <p:nvSpPr>
          <p:cNvPr id="6" name="Approach card 1"/>
          <p:cNvSpPr/>
          <p:nvPr/>
        </p:nvSpPr>
        <p:spPr>
          <a:xfrm>
            <a:off x="4663440" y="1005840"/>
            <a:ext cx="4023360" cy="1069848"/>
          </a:xfrm>
          <a:prstGeom prst="roundRect">
            <a:avLst>
              <a:gd name="adj" fmla="val 6838"/>
            </a:avLst>
          </a:prstGeom>
          <a:solidFill>
            <a:schemeClr val="bg2"/>
          </a:solidFill>
          <a:ln w="12700">
            <a:solidFill>
              <a:schemeClr val="bg2"/>
            </a:solidFill>
            <a:prstDash val="solid"/>
          </a:ln>
        </p:spPr>
      </p:sp>
      <p:sp>
        <p:nvSpPr>
          <p:cNvPr id="7" name="Step 1 badge"/>
          <p:cNvSpPr/>
          <p:nvPr/>
        </p:nvSpPr>
        <p:spPr>
          <a:xfrm>
            <a:off x="4828032" y="1170432"/>
            <a:ext cx="384048" cy="384048"/>
          </a:xfrm>
          <a:prstGeom prst="ellipse">
            <a:avLst/>
          </a:prstGeom>
          <a:solidFill>
            <a:schemeClr val="accent1"/>
          </a:solidFill>
          <a:ln w="12700">
            <a:solidFill>
              <a:schemeClr val="accent1"/>
            </a:solidFill>
            <a:prstDash val="solid"/>
          </a:ln>
        </p:spPr>
      </p:sp>
      <p:sp>
        <p:nvSpPr>
          <p:cNvPr id="8" name="Text 6"/>
          <p:cNvSpPr txBox="1"/>
          <p:nvPr/>
        </p:nvSpPr>
        <p:spPr>
          <a:xfrm>
            <a:off x="4828032" y="1170432"/>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9" name="Text 7"/>
          <p:cNvSpPr txBox="1"/>
          <p:nvPr/>
        </p:nvSpPr>
        <p:spPr>
          <a:xfrm>
            <a:off x="5349240" y="1133856"/>
            <a:ext cx="3200400" cy="292608"/>
          </a:xfrm>
          <a:prstGeom prst="rect">
            <a:avLst/>
          </a:prstGeom>
          <a:noFill/>
          <a:ln/>
        </p:spPr>
        <p:txBody>
          <a:bodyPr wrap="square" lIns="0" tIns="0" rIns="0" bIns="0" rtlCol="0" anchor="ctr"/>
          <a:lstStyle/>
          <a:p>
            <a:pPr indent="0" marL="0">
              <a:buNone/>
            </a:pPr>
            <a:r>
              <a:rPr lang="en-US" sz="1500" b="1" dirty="0">
                <a:solidFill>
                  <a:schemeClr val="tx2"/>
                </a:solidFill>
              </a:rPr>
              <a:t>Who runs next</a:t>
            </a:r>
            <a:endParaRPr lang="en-US" sz="1500" dirty="0"/>
          </a:p>
        </p:txBody>
      </p:sp>
      <p:sp>
        <p:nvSpPr>
          <p:cNvPr id="10" name="Text 8"/>
          <p:cNvSpPr txBox="1"/>
          <p:nvPr/>
        </p:nvSpPr>
        <p:spPr>
          <a:xfrm>
            <a:off x="5349240" y="1444752"/>
            <a:ext cx="3200400" cy="566928"/>
          </a:xfrm>
          <a:prstGeom prst="rect">
            <a:avLst/>
          </a:prstGeom>
          <a:noFill/>
          <a:ln/>
        </p:spPr>
        <p:txBody>
          <a:bodyPr wrap="square" lIns="0" tIns="0" rIns="0" bIns="0" rtlCol="0" anchor="ctr"/>
          <a:lstStyle/>
          <a:p>
            <a:pPr indent="0" marL="0">
              <a:buNone/>
            </a:pPr>
            <a:r>
              <a:rPr lang="en-US" sz="1200" dirty="0">
                <a:solidFill>
                  <a:schemeClr val="tx1"/>
                </a:solidFill>
              </a:rPr>
              <a:t>P = predicted time left − β × time waited. Lowest P runs; ageing (β = 0.03) stops starvation.</a:t>
            </a:r>
            <a:endParaRPr lang="en-US" sz="1200" dirty="0"/>
          </a:p>
        </p:txBody>
      </p:sp>
      <p:sp>
        <p:nvSpPr>
          <p:cNvPr id="11" name="Approach card 2"/>
          <p:cNvSpPr/>
          <p:nvPr/>
        </p:nvSpPr>
        <p:spPr>
          <a:xfrm>
            <a:off x="4663440" y="2212848"/>
            <a:ext cx="4023360" cy="1069848"/>
          </a:xfrm>
          <a:prstGeom prst="roundRect">
            <a:avLst>
              <a:gd name="adj" fmla="val 6838"/>
            </a:avLst>
          </a:prstGeom>
          <a:solidFill>
            <a:schemeClr val="bg2"/>
          </a:solidFill>
          <a:ln w="12700">
            <a:solidFill>
              <a:schemeClr val="bg2"/>
            </a:solidFill>
            <a:prstDash val="solid"/>
          </a:ln>
        </p:spPr>
      </p:sp>
      <p:sp>
        <p:nvSpPr>
          <p:cNvPr id="12" name="Step 2 badge"/>
          <p:cNvSpPr/>
          <p:nvPr/>
        </p:nvSpPr>
        <p:spPr>
          <a:xfrm>
            <a:off x="4828032" y="2377440"/>
            <a:ext cx="384048" cy="384048"/>
          </a:xfrm>
          <a:prstGeom prst="ellipse">
            <a:avLst/>
          </a:prstGeom>
          <a:solidFill>
            <a:schemeClr val="accent1"/>
          </a:solidFill>
          <a:ln w="12700">
            <a:solidFill>
              <a:schemeClr val="accent1"/>
            </a:solidFill>
            <a:prstDash val="solid"/>
          </a:ln>
        </p:spPr>
      </p:sp>
      <p:sp>
        <p:nvSpPr>
          <p:cNvPr id="13" name="Text 11"/>
          <p:cNvSpPr txBox="1"/>
          <p:nvPr/>
        </p:nvSpPr>
        <p:spPr>
          <a:xfrm>
            <a:off x="4828032" y="237744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4" name="Text 12"/>
          <p:cNvSpPr txBox="1"/>
          <p:nvPr/>
        </p:nvSpPr>
        <p:spPr>
          <a:xfrm>
            <a:off x="5349240" y="2340864"/>
            <a:ext cx="3200400" cy="292608"/>
          </a:xfrm>
          <a:prstGeom prst="rect">
            <a:avLst/>
          </a:prstGeom>
          <a:noFill/>
          <a:ln/>
        </p:spPr>
        <p:txBody>
          <a:bodyPr wrap="square" lIns="0" tIns="0" rIns="0" bIns="0" rtlCol="0" anchor="ctr"/>
          <a:lstStyle/>
          <a:p>
            <a:pPr indent="0" marL="0">
              <a:buNone/>
            </a:pPr>
            <a:r>
              <a:rPr lang="en-US" sz="1500" b="1" dirty="0">
                <a:solidFill>
                  <a:schemeClr val="tx2"/>
                </a:solidFill>
              </a:rPr>
              <a:t>How long it runs</a:t>
            </a:r>
            <a:endParaRPr lang="en-US" sz="1500" dirty="0"/>
          </a:p>
        </p:txBody>
      </p:sp>
      <p:sp>
        <p:nvSpPr>
          <p:cNvPr id="15" name="Text 13"/>
          <p:cNvSpPr txBox="1"/>
          <p:nvPr/>
        </p:nvSpPr>
        <p:spPr>
          <a:xfrm>
            <a:off x="5349240" y="2651760"/>
            <a:ext cx="3200400" cy="566928"/>
          </a:xfrm>
          <a:prstGeom prst="rect">
            <a:avLst/>
          </a:prstGeom>
          <a:noFill/>
          <a:ln/>
        </p:spPr>
        <p:txBody>
          <a:bodyPr wrap="square" lIns="0" tIns="0" rIns="0" bIns="0" rtlCol="0" anchor="ctr"/>
          <a:lstStyle/>
          <a:p>
            <a:pPr indent="0" marL="0">
              <a:buNone/>
            </a:pPr>
            <a:r>
              <a:rPr lang="en-US" sz="1200" dirty="0">
                <a:solidFill>
                  <a:schemeClr val="tx1"/>
                </a:solidFill>
              </a:rPr>
              <a:t>Quantum = 80th percentile of predictions × recent error ratio, every 50 decisions, kept in 1–100 ms.</a:t>
            </a:r>
            <a:endParaRPr lang="en-US" sz="1200" dirty="0"/>
          </a:p>
        </p:txBody>
      </p:sp>
      <p:sp>
        <p:nvSpPr>
          <p:cNvPr id="16" name="Predictor card"/>
          <p:cNvSpPr/>
          <p:nvPr/>
        </p:nvSpPr>
        <p:spPr>
          <a:xfrm>
            <a:off x="4663440" y="3419856"/>
            <a:ext cx="4023360" cy="1106424"/>
          </a:xfrm>
          <a:prstGeom prst="roundRect">
            <a:avLst>
              <a:gd name="adj" fmla="val 6612"/>
            </a:avLst>
          </a:prstGeom>
          <a:solidFill>
            <a:schemeClr val="bg2"/>
          </a:solidFill>
          <a:ln w="12700">
            <a:solidFill>
              <a:schemeClr val="bg2"/>
            </a:solidFill>
            <a:prstDash val="solid"/>
          </a:ln>
        </p:spPr>
      </p:sp>
      <p:sp>
        <p:nvSpPr>
          <p:cNvPr id="17" name="Text 15"/>
          <p:cNvSpPr txBox="1"/>
          <p:nvPr/>
        </p:nvSpPr>
        <p:spPr>
          <a:xfrm>
            <a:off x="4846320" y="3529584"/>
            <a:ext cx="3657600" cy="274320"/>
          </a:xfrm>
          <a:prstGeom prst="rect">
            <a:avLst/>
          </a:prstGeom>
          <a:noFill/>
          <a:ln/>
        </p:spPr>
        <p:txBody>
          <a:bodyPr wrap="square" lIns="0" tIns="0" rIns="0" bIns="0" rtlCol="0" anchor="ctr"/>
          <a:lstStyle/>
          <a:p>
            <a:pPr indent="0" marL="0">
              <a:buNone/>
            </a:pPr>
            <a:r>
              <a:rPr lang="en-US" sz="1500" b="1" dirty="0">
                <a:solidFill>
                  <a:schemeClr val="tx2"/>
                </a:solidFill>
              </a:rPr>
              <a:t>Predictor</a:t>
            </a:r>
            <a:endParaRPr lang="en-US" sz="1500" dirty="0"/>
          </a:p>
        </p:txBody>
      </p:sp>
      <p:sp>
        <p:nvSpPr>
          <p:cNvPr id="18" name="Text 16"/>
          <p:cNvSpPr txBox="1"/>
          <p:nvPr/>
        </p:nvSpPr>
        <p:spPr>
          <a:xfrm>
            <a:off x="4846320" y="3840480"/>
            <a:ext cx="3657600" cy="594360"/>
          </a:xfrm>
          <a:prstGeom prst="rect">
            <a:avLst/>
          </a:prstGeom>
          <a:noFill/>
          <a:ln/>
        </p:spPr>
        <p:txBody>
          <a:bodyPr wrap="square" lIns="0" tIns="0" rIns="0" bIns="0" rtlCol="0" anchor="ctr"/>
          <a:lstStyle/>
          <a:p>
            <a:pPr indent="0" marL="0">
              <a:buNone/>
            </a:pPr>
            <a:r>
              <a:rPr lang="en-US" sz="1200" dirty="0">
                <a:solidFill>
                  <a:schemeClr val="tx1"/>
                </a:solidFill>
              </a:rPr>
              <a:t>Gradient boosting on 12 features of each process's history: 14% lower error than exponential averaging on unseen processes.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Experimental setup</a:t>
            </a:r>
            <a:endParaRPr lang="en-US" sz="2600" dirty="0"/>
          </a:p>
        </p:txBody>
      </p:sp>
      <p:sp>
        <p:nvSpPr>
          <p:cNvPr id="3" name="Setup stat 1"/>
          <p:cNvSpPr/>
          <p:nvPr/>
        </p:nvSpPr>
        <p:spPr>
          <a:xfrm>
            <a:off x="457200" y="1005840"/>
            <a:ext cx="1901952" cy="1005840"/>
          </a:xfrm>
          <a:prstGeom prst="roundRect">
            <a:avLst>
              <a:gd name="adj" fmla="val 7273"/>
            </a:avLst>
          </a:prstGeom>
          <a:solidFill>
            <a:schemeClr val="bg2"/>
          </a:solidFill>
          <a:ln w="12700">
            <a:solidFill>
              <a:schemeClr val="bg2"/>
            </a:solidFill>
            <a:prstDash val="solid"/>
          </a:ln>
        </p:spPr>
      </p:sp>
      <p:sp>
        <p:nvSpPr>
          <p:cNvPr id="4" name="Text 2"/>
          <p:cNvSpPr txBox="1"/>
          <p:nvPr/>
        </p:nvSpPr>
        <p:spPr>
          <a:xfrm>
            <a:off x="640080" y="1078992"/>
            <a:ext cx="1536192" cy="4572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6</a:t>
            </a:r>
            <a:endParaRPr lang="en-US" sz="2600" dirty="0"/>
          </a:p>
        </p:txBody>
      </p:sp>
      <p:sp>
        <p:nvSpPr>
          <p:cNvPr id="5" name="Text 3"/>
          <p:cNvSpPr txBox="1"/>
          <p:nvPr/>
        </p:nvSpPr>
        <p:spPr>
          <a:xfrm>
            <a:off x="640080" y="1572768"/>
            <a:ext cx="1536192" cy="384048"/>
          </a:xfrm>
          <a:prstGeom prst="rect">
            <a:avLst/>
          </a:prstGeom>
          <a:noFill/>
          <a:ln/>
        </p:spPr>
        <p:txBody>
          <a:bodyPr wrap="square" lIns="0" tIns="0" rIns="0" bIns="0" rtlCol="0" anchor="t"/>
          <a:lstStyle/>
          <a:p>
            <a:pPr indent="0" marL="0">
              <a:buNone/>
            </a:pPr>
            <a:r>
              <a:rPr lang="en-US" sz="1100" dirty="0">
                <a:solidFill>
                  <a:schemeClr val="tx1"/>
                </a:solidFill>
              </a:rPr>
              <a:t>workload types</a:t>
            </a:r>
            <a:endParaRPr lang="en-US" sz="1100" dirty="0"/>
          </a:p>
        </p:txBody>
      </p:sp>
      <p:sp>
        <p:nvSpPr>
          <p:cNvPr id="6" name="Setup stat 2"/>
          <p:cNvSpPr/>
          <p:nvPr/>
        </p:nvSpPr>
        <p:spPr>
          <a:xfrm>
            <a:off x="2551176" y="1005840"/>
            <a:ext cx="1901952" cy="1005840"/>
          </a:xfrm>
          <a:prstGeom prst="roundRect">
            <a:avLst>
              <a:gd name="adj" fmla="val 7273"/>
            </a:avLst>
          </a:prstGeom>
          <a:solidFill>
            <a:schemeClr val="bg2"/>
          </a:solidFill>
          <a:ln w="12700">
            <a:solidFill>
              <a:schemeClr val="bg2"/>
            </a:solidFill>
            <a:prstDash val="solid"/>
          </a:ln>
        </p:spPr>
      </p:sp>
      <p:sp>
        <p:nvSpPr>
          <p:cNvPr id="7" name="Text 5"/>
          <p:cNvSpPr txBox="1"/>
          <p:nvPr/>
        </p:nvSpPr>
        <p:spPr>
          <a:xfrm>
            <a:off x="2734056" y="1078992"/>
            <a:ext cx="1536192" cy="4572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11</a:t>
            </a:r>
            <a:endParaRPr lang="en-US" sz="2600" dirty="0"/>
          </a:p>
        </p:txBody>
      </p:sp>
      <p:sp>
        <p:nvSpPr>
          <p:cNvPr id="8" name="Text 6"/>
          <p:cNvSpPr txBox="1"/>
          <p:nvPr/>
        </p:nvSpPr>
        <p:spPr>
          <a:xfrm>
            <a:off x="2734056" y="1572768"/>
            <a:ext cx="1536192" cy="384048"/>
          </a:xfrm>
          <a:prstGeom prst="rect">
            <a:avLst/>
          </a:prstGeom>
          <a:noFill/>
          <a:ln/>
        </p:spPr>
        <p:txBody>
          <a:bodyPr wrap="square" lIns="0" tIns="0" rIns="0" bIns="0" rtlCol="0" anchor="t"/>
          <a:lstStyle/>
          <a:p>
            <a:pPr indent="0" marL="0">
              <a:buNone/>
            </a:pPr>
            <a:r>
              <a:rPr lang="en-US" sz="1100" dirty="0">
                <a:solidFill>
                  <a:schemeClr val="tx1"/>
                </a:solidFill>
              </a:rPr>
              <a:t>scheduler configurations</a:t>
            </a:r>
            <a:endParaRPr lang="en-US" sz="1100" dirty="0"/>
          </a:p>
        </p:txBody>
      </p:sp>
      <p:sp>
        <p:nvSpPr>
          <p:cNvPr id="9" name="Setup stat 3"/>
          <p:cNvSpPr/>
          <p:nvPr/>
        </p:nvSpPr>
        <p:spPr>
          <a:xfrm>
            <a:off x="4645152" y="1005840"/>
            <a:ext cx="1901952" cy="1005840"/>
          </a:xfrm>
          <a:prstGeom prst="roundRect">
            <a:avLst>
              <a:gd name="adj" fmla="val 7273"/>
            </a:avLst>
          </a:prstGeom>
          <a:solidFill>
            <a:schemeClr val="bg2"/>
          </a:solidFill>
          <a:ln w="12700">
            <a:solidFill>
              <a:schemeClr val="bg2"/>
            </a:solidFill>
            <a:prstDash val="solid"/>
          </a:ln>
        </p:spPr>
      </p:sp>
      <p:sp>
        <p:nvSpPr>
          <p:cNvPr id="10" name="Text 8"/>
          <p:cNvSpPr txBox="1"/>
          <p:nvPr/>
        </p:nvSpPr>
        <p:spPr>
          <a:xfrm>
            <a:off x="4828032" y="1078992"/>
            <a:ext cx="1536192" cy="4572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10</a:t>
            </a:r>
            <a:endParaRPr lang="en-US" sz="2600" dirty="0"/>
          </a:p>
        </p:txBody>
      </p:sp>
      <p:sp>
        <p:nvSpPr>
          <p:cNvPr id="11" name="Text 9"/>
          <p:cNvSpPr txBox="1"/>
          <p:nvPr/>
        </p:nvSpPr>
        <p:spPr>
          <a:xfrm>
            <a:off x="4828032" y="1572768"/>
            <a:ext cx="1536192" cy="384048"/>
          </a:xfrm>
          <a:prstGeom prst="rect">
            <a:avLst/>
          </a:prstGeom>
          <a:noFill/>
          <a:ln/>
        </p:spPr>
        <p:txBody>
          <a:bodyPr wrap="square" lIns="0" tIns="0" rIns="0" bIns="0" rtlCol="0" anchor="t"/>
          <a:lstStyle/>
          <a:p>
            <a:pPr indent="0" marL="0">
              <a:buNone/>
            </a:pPr>
            <a:r>
              <a:rPr lang="en-US" sz="1100" dirty="0">
                <a:solidFill>
                  <a:schemeClr val="tx1"/>
                </a:solidFill>
              </a:rPr>
              <a:t>random seeds each</a:t>
            </a:r>
            <a:endParaRPr lang="en-US" sz="1100" dirty="0"/>
          </a:p>
        </p:txBody>
      </p:sp>
      <p:sp>
        <p:nvSpPr>
          <p:cNvPr id="12" name="Setup stat 4"/>
          <p:cNvSpPr/>
          <p:nvPr/>
        </p:nvSpPr>
        <p:spPr>
          <a:xfrm>
            <a:off x="6739128" y="1005840"/>
            <a:ext cx="1901952" cy="1005840"/>
          </a:xfrm>
          <a:prstGeom prst="roundRect">
            <a:avLst>
              <a:gd name="adj" fmla="val 7273"/>
            </a:avLst>
          </a:prstGeom>
          <a:solidFill>
            <a:schemeClr val="bg2"/>
          </a:solidFill>
          <a:ln w="12700">
            <a:solidFill>
              <a:schemeClr val="bg2"/>
            </a:solidFill>
            <a:prstDash val="solid"/>
          </a:ln>
        </p:spPr>
      </p:sp>
      <p:sp>
        <p:nvSpPr>
          <p:cNvPr id="13" name="Text 11"/>
          <p:cNvSpPr txBox="1"/>
          <p:nvPr/>
        </p:nvSpPr>
        <p:spPr>
          <a:xfrm>
            <a:off x="6922008" y="1078992"/>
            <a:ext cx="1536192" cy="4572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660</a:t>
            </a:r>
            <a:endParaRPr lang="en-US" sz="2600" dirty="0"/>
          </a:p>
        </p:txBody>
      </p:sp>
      <p:sp>
        <p:nvSpPr>
          <p:cNvPr id="14" name="Text 12"/>
          <p:cNvSpPr txBox="1"/>
          <p:nvPr/>
        </p:nvSpPr>
        <p:spPr>
          <a:xfrm>
            <a:off x="6922008" y="1572768"/>
            <a:ext cx="1536192" cy="384048"/>
          </a:xfrm>
          <a:prstGeom prst="rect">
            <a:avLst/>
          </a:prstGeom>
          <a:noFill/>
          <a:ln/>
        </p:spPr>
        <p:txBody>
          <a:bodyPr wrap="square" lIns="0" tIns="0" rIns="0" bIns="0" rtlCol="0" anchor="t"/>
          <a:lstStyle/>
          <a:p>
            <a:pPr indent="0" marL="0">
              <a:buNone/>
            </a:pPr>
            <a:r>
              <a:rPr lang="en-US" sz="1100" dirty="0">
                <a:solidFill>
                  <a:schemeClr val="tx1"/>
                </a:solidFill>
              </a:rPr>
              <a:t>paired runs</a:t>
            </a:r>
            <a:endParaRPr lang="en-US" sz="1100" dirty="0"/>
          </a:p>
        </p:txBody>
      </p:sp>
      <p:sp>
        <p:nvSpPr>
          <p:cNvPr id="15" name="Text 13"/>
          <p:cNvSpPr txBox="1"/>
          <p:nvPr/>
        </p:nvSpPr>
        <p:spPr>
          <a:xfrm>
            <a:off x="457200" y="2240280"/>
            <a:ext cx="3931920" cy="274320"/>
          </a:xfrm>
          <a:prstGeom prst="rect">
            <a:avLst/>
          </a:prstGeom>
          <a:noFill/>
          <a:ln/>
        </p:spPr>
        <p:txBody>
          <a:bodyPr wrap="square" lIns="0" tIns="0" rIns="0" bIns="0" rtlCol="0" anchor="ctr"/>
          <a:lstStyle/>
          <a:p>
            <a:pPr indent="0" marL="0">
              <a:buNone/>
            </a:pPr>
            <a:r>
              <a:rPr lang="en-US" sz="1500" b="1" dirty="0">
                <a:solidFill>
                  <a:schemeClr val="tx2"/>
                </a:solidFill>
              </a:rPr>
              <a:t>Workloads (200 processes, 85% CPU load)</a:t>
            </a:r>
            <a:endParaRPr lang="en-US" sz="1500" dirty="0"/>
          </a:p>
        </p:txBody>
      </p:sp>
      <p:sp>
        <p:nvSpPr>
          <p:cNvPr id="16" name="Text 14"/>
          <p:cNvSpPr txBox="1"/>
          <p:nvPr/>
        </p:nvSpPr>
        <p:spPr>
          <a:xfrm>
            <a:off x="457200" y="2560320"/>
            <a:ext cx="3931920" cy="12801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W1 CPU-bound  ·  W2 I/O-bound  ·  W3 interactive</a:t>
            </a:r>
            <a:endParaRPr lang="en-US" sz="1300" dirty="0"/>
          </a:p>
          <a:p>
            <a:pPr marL="177800" indent="-177800">
              <a:spcAft>
                <a:spcPts val="600"/>
              </a:spcAft>
              <a:buSzPct val="100000"/>
              <a:buChar char="•"/>
            </a:pPr>
            <a:r>
              <a:rPr lang="en-US" sz="1300" dirty="0">
                <a:solidFill>
                  <a:schemeClr val="tx1"/>
                </a:solidFill>
              </a:rPr>
              <a:t>W4 mixed (the realistic case)</a:t>
            </a:r>
            <a:endParaRPr lang="en-US" sz="1300" dirty="0"/>
          </a:p>
          <a:p>
            <a:pPr marL="177800" indent="-177800">
              <a:spcAft>
                <a:spcPts val="600"/>
              </a:spcAft>
              <a:buSzPct val="100000"/>
              <a:buChar char="•"/>
            </a:pPr>
            <a:r>
              <a:rPr lang="en-US" sz="1300" dirty="0">
                <a:solidFill>
                  <a:schemeClr val="tx1"/>
                </a:solidFill>
              </a:rPr>
              <a:t>W5 phase-changing  ·  W6 overload (3× arrivals)</a:t>
            </a:r>
            <a:endParaRPr lang="en-US" sz="1300" dirty="0"/>
          </a:p>
        </p:txBody>
      </p:sp>
      <p:sp>
        <p:nvSpPr>
          <p:cNvPr id="17" name="Text 15"/>
          <p:cNvSpPr txBox="1"/>
          <p:nvPr/>
        </p:nvSpPr>
        <p:spPr>
          <a:xfrm>
            <a:off x="4663440" y="2240280"/>
            <a:ext cx="4023360" cy="274320"/>
          </a:xfrm>
          <a:prstGeom prst="rect">
            <a:avLst/>
          </a:prstGeom>
          <a:noFill/>
          <a:ln/>
        </p:spPr>
        <p:txBody>
          <a:bodyPr wrap="square" lIns="0" tIns="0" rIns="0" bIns="0" rtlCol="0" anchor="ctr"/>
          <a:lstStyle/>
          <a:p>
            <a:pPr indent="0" marL="0">
              <a:buNone/>
            </a:pPr>
            <a:r>
              <a:rPr lang="en-US" sz="1500" b="1" dirty="0">
                <a:solidFill>
                  <a:schemeClr val="tx2"/>
                </a:solidFill>
              </a:rPr>
              <a:t>Schedulers and metrics</a:t>
            </a:r>
            <a:endParaRPr lang="en-US" sz="1500" dirty="0"/>
          </a:p>
        </p:txBody>
      </p:sp>
      <p:sp>
        <p:nvSpPr>
          <p:cNvPr id="18" name="Text 16"/>
          <p:cNvSpPr txBox="1"/>
          <p:nvPr/>
        </p:nvSpPr>
        <p:spPr>
          <a:xfrm>
            <a:off x="4663440" y="2560320"/>
            <a:ext cx="4023360" cy="12801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FCFS, SJF, SRTF, RR (2/5/10/20 ms), MLFQ, Oracle, ours</a:t>
            </a:r>
            <a:endParaRPr lang="en-US" sz="1300" dirty="0"/>
          </a:p>
          <a:p>
            <a:pPr marL="177800" indent="-177800">
              <a:spcAft>
                <a:spcPts val="600"/>
              </a:spcAft>
              <a:buSzPct val="100000"/>
              <a:buChar char="•"/>
            </a:pPr>
            <a:r>
              <a:rPr lang="en-US" sz="1300" dirty="0">
                <a:solidFill>
                  <a:schemeClr val="tx1"/>
                </a:solidFill>
              </a:rPr>
              <a:t>Average and worst-case waiting time, response time</a:t>
            </a:r>
            <a:endParaRPr lang="en-US" sz="1300" dirty="0"/>
          </a:p>
          <a:p>
            <a:pPr marL="177800" indent="-177800">
              <a:spcAft>
                <a:spcPts val="600"/>
              </a:spcAft>
              <a:buSzPct val="100000"/>
              <a:buChar char="•"/>
            </a:pPr>
            <a:r>
              <a:rPr lang="en-US" sz="1300" dirty="0">
                <a:solidFill>
                  <a:schemeClr val="tx1"/>
                </a:solidFill>
              </a:rPr>
              <a:t>Context switches, starvation, prediction error, % of oracle gap closed</a:t>
            </a:r>
            <a:endParaRPr lang="en-US" sz="1300" dirty="0"/>
          </a:p>
        </p:txBody>
      </p:sp>
      <p:sp>
        <p:nvSpPr>
          <p:cNvPr id="19" name="Fairness note"/>
          <p:cNvSpPr/>
          <p:nvPr/>
        </p:nvSpPr>
        <p:spPr>
          <a:xfrm>
            <a:off x="457200" y="3931920"/>
            <a:ext cx="8229600" cy="548640"/>
          </a:xfrm>
          <a:prstGeom prst="roundRect">
            <a:avLst>
              <a:gd name="adj" fmla="val 13333"/>
            </a:avLst>
          </a:prstGeom>
          <a:solidFill>
            <a:schemeClr val="bg2"/>
          </a:solidFill>
          <a:ln w="12700">
            <a:solidFill>
              <a:schemeClr val="bg2"/>
            </a:solidFill>
            <a:prstDash val="solid"/>
          </a:ln>
        </p:spPr>
      </p:sp>
      <p:sp>
        <p:nvSpPr>
          <p:cNvPr id="20" name="Text 18"/>
          <p:cNvSpPr txBox="1"/>
          <p:nvPr/>
        </p:nvSpPr>
        <p:spPr>
          <a:xfrm>
            <a:off x="640080" y="3959352"/>
            <a:ext cx="7863840" cy="493776"/>
          </a:xfrm>
          <a:prstGeom prst="rect">
            <a:avLst/>
          </a:prstGeom>
          <a:noFill/>
          <a:ln/>
        </p:spPr>
        <p:txBody>
          <a:bodyPr wrap="square" lIns="0" tIns="0" rIns="0" bIns="0" rtlCol="0" anchor="ctr"/>
          <a:lstStyle/>
          <a:p>
            <a:pPr indent="0" marL="0">
              <a:buNone/>
            </a:pPr>
            <a:r>
              <a:rPr lang="en-US" sz="1200" dirty="0">
                <a:solidFill>
                  <a:schemeClr val="tx1"/>
                </a:solidFill>
              </a:rPr>
              <a:t>Every scheduler runs on the same workloads (paired). Model trained and β tuned on separate seeds. Plus 400 ablation, sweep and switch-cost runs.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The simulator matches the textbook</a:t>
            </a:r>
            <a:endParaRPr lang="en-US" sz="2600" dirty="0"/>
          </a:p>
        </p:txBody>
      </p:sp>
      <p:pic>
        <p:nvPicPr>
          <p:cNvPr id="3" name="Textbook check output" descr="/Users/Shivaansh/Desktop/ai_cpu_scheduler/docs/terminal/04_demo_textbook.png">    </p:cNvPr>
          <p:cNvPicPr>
            <a:picLocks noChangeAspect="1"/>
          </p:cNvPicPr>
          <p:nvPr/>
        </p:nvPicPr>
        <p:blipFill>
          <a:blip r:embed="rId1"/>
          <a:stretch>
            <a:fillRect/>
          </a:stretch>
        </p:blipFill>
        <p:spPr>
          <a:xfrm>
            <a:off x="457200" y="1005840"/>
            <a:ext cx="5486400" cy="2587752"/>
          </a:xfrm>
          <a:prstGeom prst="rect">
            <a:avLst/>
          </a:prstGeom>
        </p:spPr>
      </p:pic>
      <p:sp>
        <p:nvSpPr>
          <p:cNvPr id="4" name="Text 1"/>
          <p:cNvSpPr txBox="1"/>
          <p:nvPr/>
        </p:nvSpPr>
        <p:spPr>
          <a:xfrm>
            <a:off x="457200" y="3657600"/>
            <a:ext cx="5486400" cy="228600"/>
          </a:xfrm>
          <a:prstGeom prst="rect">
            <a:avLst/>
          </a:prstGeom>
          <a:noFill/>
          <a:ln/>
        </p:spPr>
        <p:txBody>
          <a:bodyPr wrap="square" lIns="0" tIns="0" rIns="0" bIns="0" rtlCol="0" anchor="ctr"/>
          <a:lstStyle/>
          <a:p>
            <a:pPr indent="0" marL="0">
              <a:buNone/>
            </a:pPr>
            <a:r>
              <a:rPr lang="en-US" sz="1000" i="1" dirty="0">
                <a:solidFill>
                  <a:schemeClr val="accent3"/>
                </a:solidFill>
              </a:rPr>
              <a:t>Real Terminal output of  python demo.py --part 1</a:t>
            </a:r>
            <a:endParaRPr lang="en-US" sz="1000" dirty="0"/>
          </a:p>
        </p:txBody>
      </p:sp>
      <p:sp>
        <p:nvSpPr>
          <p:cNvPr id="5" name="Check list card"/>
          <p:cNvSpPr/>
          <p:nvPr/>
        </p:nvSpPr>
        <p:spPr>
          <a:xfrm>
            <a:off x="6217920" y="1005840"/>
            <a:ext cx="2468880" cy="2468880"/>
          </a:xfrm>
          <a:prstGeom prst="roundRect">
            <a:avLst>
              <a:gd name="adj" fmla="val 2963"/>
            </a:avLst>
          </a:prstGeom>
          <a:solidFill>
            <a:schemeClr val="bg2"/>
          </a:solidFill>
          <a:ln w="12700">
            <a:solidFill>
              <a:schemeClr val="bg2"/>
            </a:solidFill>
            <a:prstDash val="solid"/>
          </a:ln>
        </p:spPr>
      </p:sp>
      <p:sp>
        <p:nvSpPr>
          <p:cNvPr id="6" name="Text 3"/>
          <p:cNvSpPr txBox="1"/>
          <p:nvPr/>
        </p:nvSpPr>
        <p:spPr>
          <a:xfrm>
            <a:off x="6382512" y="1143000"/>
            <a:ext cx="1417320" cy="384048"/>
          </a:xfrm>
          <a:prstGeom prst="rect">
            <a:avLst/>
          </a:prstGeom>
          <a:noFill/>
          <a:ln/>
        </p:spPr>
        <p:txBody>
          <a:bodyPr wrap="square" lIns="0" tIns="0" rIns="0" bIns="0" rtlCol="0" anchor="ctr"/>
          <a:lstStyle/>
          <a:p>
            <a:pPr indent="0" marL="0">
              <a:buNone/>
            </a:pPr>
            <a:r>
              <a:rPr lang="en-US" sz="1200" dirty="0">
                <a:solidFill>
                  <a:schemeClr val="tx1"/>
                </a:solidFill>
              </a:rPr>
              <a:t>FCFS (24, 3, 3)</a:t>
            </a:r>
            <a:endParaRPr lang="en-US" sz="1200" dirty="0"/>
          </a:p>
        </p:txBody>
      </p:sp>
      <p:sp>
        <p:nvSpPr>
          <p:cNvPr id="7" name="Text 4"/>
          <p:cNvSpPr txBox="1"/>
          <p:nvPr/>
        </p:nvSpPr>
        <p:spPr>
          <a:xfrm>
            <a:off x="7726680" y="1143000"/>
            <a:ext cx="822960" cy="384048"/>
          </a:xfrm>
          <a:prstGeom prst="rect">
            <a:avLst/>
          </a:prstGeom>
          <a:noFill/>
          <a:ln/>
        </p:spPr>
        <p:txBody>
          <a:bodyPr wrap="square" lIns="0" tIns="0" rIns="0" bIns="0" rtlCol="0" anchor="ctr"/>
          <a:lstStyle/>
          <a:p>
            <a:pPr algn="r" indent="0" marL="0">
              <a:buNone/>
            </a:pPr>
            <a:r>
              <a:rPr lang="en-US" sz="1200" b="1" dirty="0">
                <a:solidFill>
                  <a:schemeClr val="accent1"/>
                </a:solidFill>
              </a:rPr>
              <a:t>17.00 ms</a:t>
            </a:r>
            <a:endParaRPr lang="en-US" sz="1200" dirty="0"/>
          </a:p>
        </p:txBody>
      </p:sp>
      <p:sp>
        <p:nvSpPr>
          <p:cNvPr id="8" name="Text 5"/>
          <p:cNvSpPr txBox="1"/>
          <p:nvPr/>
        </p:nvSpPr>
        <p:spPr>
          <a:xfrm>
            <a:off x="6382512" y="1618488"/>
            <a:ext cx="1417320" cy="384048"/>
          </a:xfrm>
          <a:prstGeom prst="rect">
            <a:avLst/>
          </a:prstGeom>
          <a:noFill/>
          <a:ln/>
        </p:spPr>
        <p:txBody>
          <a:bodyPr wrap="square" lIns="0" tIns="0" rIns="0" bIns="0" rtlCol="0" anchor="ctr"/>
          <a:lstStyle/>
          <a:p>
            <a:pPr indent="0" marL="0">
              <a:buNone/>
            </a:pPr>
            <a:r>
              <a:rPr lang="en-US" sz="1200" dirty="0">
                <a:solidFill>
                  <a:schemeClr val="tx1"/>
                </a:solidFill>
              </a:rPr>
              <a:t>Shortest first</a:t>
            </a:r>
            <a:endParaRPr lang="en-US" sz="1200" dirty="0"/>
          </a:p>
        </p:txBody>
      </p:sp>
      <p:sp>
        <p:nvSpPr>
          <p:cNvPr id="9" name="Text 6"/>
          <p:cNvSpPr txBox="1"/>
          <p:nvPr/>
        </p:nvSpPr>
        <p:spPr>
          <a:xfrm>
            <a:off x="7726680" y="1618488"/>
            <a:ext cx="822960" cy="384048"/>
          </a:xfrm>
          <a:prstGeom prst="rect">
            <a:avLst/>
          </a:prstGeom>
          <a:noFill/>
          <a:ln/>
        </p:spPr>
        <p:txBody>
          <a:bodyPr wrap="square" lIns="0" tIns="0" rIns="0" bIns="0" rtlCol="0" anchor="ctr"/>
          <a:lstStyle/>
          <a:p>
            <a:pPr algn="r" indent="0" marL="0">
              <a:buNone/>
            </a:pPr>
            <a:r>
              <a:rPr lang="en-US" sz="1200" b="1" dirty="0">
                <a:solidFill>
                  <a:schemeClr val="accent1"/>
                </a:solidFill>
              </a:rPr>
              <a:t>3.00 ms</a:t>
            </a:r>
            <a:endParaRPr lang="en-US" sz="1200" dirty="0"/>
          </a:p>
        </p:txBody>
      </p:sp>
      <p:sp>
        <p:nvSpPr>
          <p:cNvPr id="10" name="Text 7"/>
          <p:cNvSpPr txBox="1"/>
          <p:nvPr/>
        </p:nvSpPr>
        <p:spPr>
          <a:xfrm>
            <a:off x="6382512" y="2093976"/>
            <a:ext cx="1417320" cy="384048"/>
          </a:xfrm>
          <a:prstGeom prst="rect">
            <a:avLst/>
          </a:prstGeom>
          <a:noFill/>
          <a:ln/>
        </p:spPr>
        <p:txBody>
          <a:bodyPr wrap="square" lIns="0" tIns="0" rIns="0" bIns="0" rtlCol="0" anchor="ctr"/>
          <a:lstStyle/>
          <a:p>
            <a:pPr indent="0" marL="0">
              <a:buNone/>
            </a:pPr>
            <a:r>
              <a:rPr lang="en-US" sz="1200" dirty="0">
                <a:solidFill>
                  <a:schemeClr val="tx1"/>
                </a:solidFill>
              </a:rPr>
              <a:t>Round Robin, q = 4</a:t>
            </a:r>
            <a:endParaRPr lang="en-US" sz="1200" dirty="0"/>
          </a:p>
        </p:txBody>
      </p:sp>
      <p:sp>
        <p:nvSpPr>
          <p:cNvPr id="11" name="Text 8"/>
          <p:cNvSpPr txBox="1"/>
          <p:nvPr/>
        </p:nvSpPr>
        <p:spPr>
          <a:xfrm>
            <a:off x="7726680" y="2093976"/>
            <a:ext cx="822960" cy="384048"/>
          </a:xfrm>
          <a:prstGeom prst="rect">
            <a:avLst/>
          </a:prstGeom>
          <a:noFill/>
          <a:ln/>
        </p:spPr>
        <p:txBody>
          <a:bodyPr wrap="square" lIns="0" tIns="0" rIns="0" bIns="0" rtlCol="0" anchor="ctr"/>
          <a:lstStyle/>
          <a:p>
            <a:pPr algn="r" indent="0" marL="0">
              <a:buNone/>
            </a:pPr>
            <a:r>
              <a:rPr lang="en-US" sz="1200" b="1" dirty="0">
                <a:solidFill>
                  <a:schemeClr val="accent1"/>
                </a:solidFill>
              </a:rPr>
              <a:t>5.67 ms</a:t>
            </a:r>
            <a:endParaRPr lang="en-US" sz="1200" dirty="0"/>
          </a:p>
        </p:txBody>
      </p:sp>
      <p:sp>
        <p:nvSpPr>
          <p:cNvPr id="12" name="Text 9"/>
          <p:cNvSpPr txBox="1"/>
          <p:nvPr/>
        </p:nvSpPr>
        <p:spPr>
          <a:xfrm>
            <a:off x="6382512" y="2569464"/>
            <a:ext cx="1417320" cy="384048"/>
          </a:xfrm>
          <a:prstGeom prst="rect">
            <a:avLst/>
          </a:prstGeom>
          <a:noFill/>
          <a:ln/>
        </p:spPr>
        <p:txBody>
          <a:bodyPr wrap="square" lIns="0" tIns="0" rIns="0" bIns="0" rtlCol="0" anchor="ctr"/>
          <a:lstStyle/>
          <a:p>
            <a:pPr indent="0" marL="0">
              <a:buNone/>
            </a:pPr>
            <a:r>
              <a:rPr lang="en-US" sz="1200" dirty="0">
                <a:solidFill>
                  <a:schemeClr val="tx1"/>
                </a:solidFill>
              </a:rPr>
              <a:t>SRTF (4 processes)</a:t>
            </a:r>
            <a:endParaRPr lang="en-US" sz="1200" dirty="0"/>
          </a:p>
        </p:txBody>
      </p:sp>
      <p:sp>
        <p:nvSpPr>
          <p:cNvPr id="13" name="Text 10"/>
          <p:cNvSpPr txBox="1"/>
          <p:nvPr/>
        </p:nvSpPr>
        <p:spPr>
          <a:xfrm>
            <a:off x="7726680" y="2569464"/>
            <a:ext cx="822960" cy="384048"/>
          </a:xfrm>
          <a:prstGeom prst="rect">
            <a:avLst/>
          </a:prstGeom>
          <a:noFill/>
          <a:ln/>
        </p:spPr>
        <p:txBody>
          <a:bodyPr wrap="square" lIns="0" tIns="0" rIns="0" bIns="0" rtlCol="0" anchor="ctr"/>
          <a:lstStyle/>
          <a:p>
            <a:pPr algn="r" indent="0" marL="0">
              <a:buNone/>
            </a:pPr>
            <a:r>
              <a:rPr lang="en-US" sz="1200" b="1" dirty="0">
                <a:solidFill>
                  <a:schemeClr val="accent1"/>
                </a:solidFill>
              </a:rPr>
              <a:t>6.50 ms</a:t>
            </a:r>
            <a:endParaRPr lang="en-US" sz="1200" dirty="0"/>
          </a:p>
        </p:txBody>
      </p:sp>
      <p:sp>
        <p:nvSpPr>
          <p:cNvPr id="14" name="Text 11"/>
          <p:cNvSpPr txBox="1"/>
          <p:nvPr/>
        </p:nvSpPr>
        <p:spPr>
          <a:xfrm>
            <a:off x="6382512" y="3017520"/>
            <a:ext cx="2194560" cy="365760"/>
          </a:xfrm>
          <a:prstGeom prst="rect">
            <a:avLst/>
          </a:prstGeom>
          <a:noFill/>
          <a:ln/>
        </p:spPr>
        <p:txBody>
          <a:bodyPr wrap="square" lIns="0" tIns="0" rIns="0" bIns="0" rtlCol="0" anchor="ctr"/>
          <a:lstStyle/>
          <a:p>
            <a:pPr indent="0" marL="0">
              <a:buNone/>
            </a:pPr>
            <a:r>
              <a:rPr lang="en-US" sz="1200" i="1" dirty="0">
                <a:solidFill>
                  <a:schemeClr val="accent3"/>
                </a:solidFill>
              </a:rPr>
              <a:t>All four match exactly</a:t>
            </a:r>
            <a:endParaRPr lang="en-US" sz="1200" dirty="0"/>
          </a:p>
        </p:txBody>
      </p:sp>
      <p:sp>
        <p:nvSpPr>
          <p:cNvPr id="15" name="Tests stat"/>
          <p:cNvSpPr/>
          <p:nvPr/>
        </p:nvSpPr>
        <p:spPr>
          <a:xfrm>
            <a:off x="6217920" y="3611880"/>
            <a:ext cx="2468880" cy="1005840"/>
          </a:xfrm>
          <a:prstGeom prst="roundRect">
            <a:avLst>
              <a:gd name="adj" fmla="val 7273"/>
            </a:avLst>
          </a:prstGeom>
          <a:solidFill>
            <a:schemeClr val="bg2"/>
          </a:solidFill>
          <a:ln w="12700">
            <a:solidFill>
              <a:schemeClr val="bg2"/>
            </a:solidFill>
            <a:prstDash val="solid"/>
          </a:ln>
        </p:spPr>
      </p:sp>
      <p:sp>
        <p:nvSpPr>
          <p:cNvPr id="16" name="Text 13"/>
          <p:cNvSpPr txBox="1"/>
          <p:nvPr/>
        </p:nvSpPr>
        <p:spPr>
          <a:xfrm>
            <a:off x="6400800" y="3685032"/>
            <a:ext cx="2103120" cy="4572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37 / 37</a:t>
            </a:r>
            <a:endParaRPr lang="en-US" sz="2600" dirty="0"/>
          </a:p>
        </p:txBody>
      </p:sp>
      <p:sp>
        <p:nvSpPr>
          <p:cNvPr id="17" name="Text 14"/>
          <p:cNvSpPr txBox="1"/>
          <p:nvPr/>
        </p:nvSpPr>
        <p:spPr>
          <a:xfrm>
            <a:off x="6400800" y="4178808"/>
            <a:ext cx="2103120" cy="384048"/>
          </a:xfrm>
          <a:prstGeom prst="rect">
            <a:avLst/>
          </a:prstGeom>
          <a:noFill/>
          <a:ln/>
        </p:spPr>
        <p:txBody>
          <a:bodyPr wrap="square" lIns="0" tIns="0" rIns="0" bIns="0" rtlCol="0" anchor="t"/>
          <a:lstStyle/>
          <a:p>
            <a:pPr indent="0" marL="0">
              <a:buNone/>
            </a:pPr>
            <a:r>
              <a:rPr lang="en-US" sz="1100" dirty="0">
                <a:solidFill>
                  <a:schemeClr val="tx1"/>
                </a:solidFill>
              </a:rPr>
              <a:t>automated tests pass</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Mixed workload: 27% less waiting than SJF</a:t>
            </a:r>
            <a:endParaRPr lang="en-US" sz="2600" dirty="0"/>
          </a:p>
        </p:txBody>
      </p:sp>
      <p:pic>
        <p:nvPicPr>
          <p:cNvPr id="3" name="W4 average wait chart" descr="/Users/Shivaansh/Desktop/ai_cpu_scheduler/docs/reviews/assets/w4_avg_wait.png">    </p:cNvPr>
          <p:cNvPicPr>
            <a:picLocks noChangeAspect="1"/>
          </p:cNvPicPr>
          <p:nvPr/>
        </p:nvPicPr>
        <p:blipFill>
          <a:blip r:embed="rId1"/>
          <a:stretch>
            <a:fillRect/>
          </a:stretch>
        </p:blipFill>
        <p:spPr>
          <a:xfrm>
            <a:off x="457200" y="960120"/>
            <a:ext cx="5257800" cy="3566160"/>
          </a:xfrm>
          <a:prstGeom prst="rect">
            <a:avLst/>
          </a:prstGeom>
        </p:spPr>
      </p:pic>
      <p:sp>
        <p:nvSpPr>
          <p:cNvPr id="4" name="Stat avg wait"/>
          <p:cNvSpPr/>
          <p:nvPr/>
        </p:nvSpPr>
        <p:spPr>
          <a:xfrm>
            <a:off x="5943600" y="1005840"/>
            <a:ext cx="2743200" cy="1005840"/>
          </a:xfrm>
          <a:prstGeom prst="roundRect">
            <a:avLst>
              <a:gd name="adj" fmla="val 7273"/>
            </a:avLst>
          </a:prstGeom>
          <a:solidFill>
            <a:schemeClr val="bg2"/>
          </a:solidFill>
          <a:ln w="12700">
            <a:solidFill>
              <a:schemeClr val="bg2"/>
            </a:solidFill>
            <a:prstDash val="solid"/>
          </a:ln>
        </p:spPr>
      </p:sp>
      <p:sp>
        <p:nvSpPr>
          <p:cNvPr id="5" name="Text 2"/>
          <p:cNvSpPr txBox="1"/>
          <p:nvPr/>
        </p:nvSpPr>
        <p:spPr>
          <a:xfrm>
            <a:off x="6126480" y="1078992"/>
            <a:ext cx="2377440" cy="4572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−27.4%</a:t>
            </a:r>
            <a:endParaRPr lang="en-US" sz="2600" dirty="0"/>
          </a:p>
        </p:txBody>
      </p:sp>
      <p:sp>
        <p:nvSpPr>
          <p:cNvPr id="6" name="Text 3"/>
          <p:cNvSpPr txBox="1"/>
          <p:nvPr/>
        </p:nvSpPr>
        <p:spPr>
          <a:xfrm>
            <a:off x="6126480" y="1572768"/>
            <a:ext cx="2377440" cy="384048"/>
          </a:xfrm>
          <a:prstGeom prst="rect">
            <a:avLst/>
          </a:prstGeom>
          <a:noFill/>
          <a:ln/>
        </p:spPr>
        <p:txBody>
          <a:bodyPr wrap="square" lIns="0" tIns="0" rIns="0" bIns="0" rtlCol="0" anchor="t"/>
          <a:lstStyle/>
          <a:p>
            <a:pPr indent="0" marL="0">
              <a:buNone/>
            </a:pPr>
            <a:r>
              <a:rPr lang="en-US" sz="1100" dirty="0">
                <a:solidFill>
                  <a:schemeClr val="tx1"/>
                </a:solidFill>
              </a:rPr>
              <a:t>average wait vs SJF-EMA, better on 10 of 10 seeds</a:t>
            </a:r>
            <a:endParaRPr lang="en-US" sz="1100" dirty="0"/>
          </a:p>
        </p:txBody>
      </p:sp>
      <p:sp>
        <p:nvSpPr>
          <p:cNvPr id="7" name="Stat oracle gap"/>
          <p:cNvSpPr/>
          <p:nvPr/>
        </p:nvSpPr>
        <p:spPr>
          <a:xfrm>
            <a:off x="5943600" y="2240280"/>
            <a:ext cx="2743200" cy="1005840"/>
          </a:xfrm>
          <a:prstGeom prst="roundRect">
            <a:avLst>
              <a:gd name="adj" fmla="val 7273"/>
            </a:avLst>
          </a:prstGeom>
          <a:solidFill>
            <a:schemeClr val="bg2"/>
          </a:solidFill>
          <a:ln w="12700">
            <a:solidFill>
              <a:schemeClr val="bg2"/>
            </a:solidFill>
            <a:prstDash val="solid"/>
          </a:ln>
        </p:spPr>
      </p:sp>
      <p:sp>
        <p:nvSpPr>
          <p:cNvPr id="8" name="Text 5"/>
          <p:cNvSpPr txBox="1"/>
          <p:nvPr/>
        </p:nvSpPr>
        <p:spPr>
          <a:xfrm>
            <a:off x="6126480" y="2313432"/>
            <a:ext cx="2377440" cy="4572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54%</a:t>
            </a:r>
            <a:endParaRPr lang="en-US" sz="2600" dirty="0"/>
          </a:p>
        </p:txBody>
      </p:sp>
      <p:sp>
        <p:nvSpPr>
          <p:cNvPr id="9" name="Text 6"/>
          <p:cNvSpPr txBox="1"/>
          <p:nvPr/>
        </p:nvSpPr>
        <p:spPr>
          <a:xfrm>
            <a:off x="6126480" y="2807208"/>
            <a:ext cx="2377440" cy="384048"/>
          </a:xfrm>
          <a:prstGeom prst="rect">
            <a:avLst/>
          </a:prstGeom>
          <a:noFill/>
          <a:ln/>
        </p:spPr>
        <p:txBody>
          <a:bodyPr wrap="square" lIns="0" tIns="0" rIns="0" bIns="0" rtlCol="0" anchor="t"/>
          <a:lstStyle/>
          <a:p>
            <a:pPr indent="0" marL="0">
              <a:buNone/>
            </a:pPr>
            <a:r>
              <a:rPr lang="en-US" sz="1100" dirty="0">
                <a:solidFill>
                  <a:schemeClr val="tx1"/>
                </a:solidFill>
              </a:rPr>
              <a:t>of the gap to the oracle (best possible case) closed</a:t>
            </a:r>
            <a:endParaRPr lang="en-US" sz="1100" dirty="0"/>
          </a:p>
        </p:txBody>
      </p:sp>
      <p:sp>
        <p:nvSpPr>
          <p:cNvPr id="10" name="Stat switches"/>
          <p:cNvSpPr/>
          <p:nvPr/>
        </p:nvSpPr>
        <p:spPr>
          <a:xfrm>
            <a:off x="5943600" y="3474720"/>
            <a:ext cx="2743200" cy="1005840"/>
          </a:xfrm>
          <a:prstGeom prst="roundRect">
            <a:avLst>
              <a:gd name="adj" fmla="val 7273"/>
            </a:avLst>
          </a:prstGeom>
          <a:solidFill>
            <a:schemeClr val="bg2"/>
          </a:solidFill>
          <a:ln w="12700">
            <a:solidFill>
              <a:schemeClr val="bg2"/>
            </a:solidFill>
            <a:prstDash val="solid"/>
          </a:ln>
        </p:spPr>
      </p:sp>
      <p:sp>
        <p:nvSpPr>
          <p:cNvPr id="11" name="Text 8"/>
          <p:cNvSpPr txBox="1"/>
          <p:nvPr/>
        </p:nvSpPr>
        <p:spPr>
          <a:xfrm>
            <a:off x="6126480" y="3547872"/>
            <a:ext cx="2377440" cy="4572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−61%</a:t>
            </a:r>
            <a:endParaRPr lang="en-US" sz="2600" dirty="0"/>
          </a:p>
        </p:txBody>
      </p:sp>
      <p:sp>
        <p:nvSpPr>
          <p:cNvPr id="12" name="Text 9"/>
          <p:cNvSpPr txBox="1"/>
          <p:nvPr/>
        </p:nvSpPr>
        <p:spPr>
          <a:xfrm>
            <a:off x="6126480" y="4041648"/>
            <a:ext cx="2377440" cy="384048"/>
          </a:xfrm>
          <a:prstGeom prst="rect">
            <a:avLst/>
          </a:prstGeom>
          <a:noFill/>
          <a:ln/>
        </p:spPr>
        <p:txBody>
          <a:bodyPr wrap="square" lIns="0" tIns="0" rIns="0" bIns="0" rtlCol="0" anchor="t"/>
          <a:lstStyle/>
          <a:p>
            <a:pPr indent="0" marL="0">
              <a:buNone/>
            </a:pPr>
            <a:r>
              <a:rPr lang="en-US" sz="1100" dirty="0">
                <a:solidFill>
                  <a:schemeClr val="tx1"/>
                </a:solidFill>
              </a:rPr>
              <a:t>context switches vs RR-5, with faster response than RR-20</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Live run: all 11 schedulers on one workload</a:t>
            </a:r>
            <a:endParaRPr lang="en-US" sz="2600" dirty="0"/>
          </a:p>
        </p:txBody>
      </p:sp>
      <p:pic>
        <p:nvPicPr>
          <p:cNvPr id="3" name="Comparison output" descr="/Users/Shivaansh/Desktop/ai_cpu_scheduler/docs/terminal/06_demo_comparison.png">    </p:cNvPr>
          <p:cNvPicPr>
            <a:picLocks noChangeAspect="1"/>
          </p:cNvPicPr>
          <p:nvPr/>
        </p:nvPicPr>
        <p:blipFill>
          <a:blip r:embed="rId1"/>
          <a:stretch>
            <a:fillRect/>
          </a:stretch>
        </p:blipFill>
        <p:spPr>
          <a:xfrm>
            <a:off x="457200" y="960120"/>
            <a:ext cx="5760720" cy="2962656"/>
          </a:xfrm>
          <a:prstGeom prst="rect">
            <a:avLst/>
          </a:prstGeom>
        </p:spPr>
      </p:pic>
      <p:sp>
        <p:nvSpPr>
          <p:cNvPr id="4" name="Text 1"/>
          <p:cNvSpPr txBox="1"/>
          <p:nvPr/>
        </p:nvSpPr>
        <p:spPr>
          <a:xfrm>
            <a:off x="457200" y="3986784"/>
            <a:ext cx="5760720" cy="228600"/>
          </a:xfrm>
          <a:prstGeom prst="rect">
            <a:avLst/>
          </a:prstGeom>
          <a:noFill/>
          <a:ln/>
        </p:spPr>
        <p:txBody>
          <a:bodyPr wrap="square" lIns="0" tIns="0" rIns="0" bIns="0" rtlCol="0" anchor="ctr"/>
          <a:lstStyle/>
          <a:p>
            <a:pPr indent="0" marL="0">
              <a:buNone/>
            </a:pPr>
            <a:r>
              <a:rPr lang="en-US" sz="1000" i="1" dirty="0">
                <a:solidFill>
                  <a:schemeClr val="accent3"/>
                </a:solidFill>
              </a:rPr>
              <a:t>Real Terminal output of  python demo.py --part 3  (W4, seed 0, 200 processes)</a:t>
            </a:r>
            <a:endParaRPr lang="en-US" sz="1000" dirty="0"/>
          </a:p>
        </p:txBody>
      </p:sp>
      <p:sp>
        <p:nvSpPr>
          <p:cNvPr id="5" name="Live stat 1"/>
          <p:cNvSpPr/>
          <p:nvPr/>
        </p:nvSpPr>
        <p:spPr>
          <a:xfrm>
            <a:off x="6446520" y="960120"/>
            <a:ext cx="2240280" cy="658368"/>
          </a:xfrm>
          <a:prstGeom prst="roundRect">
            <a:avLst>
              <a:gd name="adj" fmla="val 11111"/>
            </a:avLst>
          </a:prstGeom>
          <a:solidFill>
            <a:schemeClr val="bg2"/>
          </a:solidFill>
          <a:ln w="12700">
            <a:solidFill>
              <a:schemeClr val="bg2"/>
            </a:solidFill>
            <a:prstDash val="solid"/>
          </a:ln>
        </p:spPr>
      </p:sp>
      <p:sp>
        <p:nvSpPr>
          <p:cNvPr id="6" name="Text 3"/>
          <p:cNvSpPr txBox="1"/>
          <p:nvPr/>
        </p:nvSpPr>
        <p:spPr>
          <a:xfrm>
            <a:off x="6583680" y="1005840"/>
            <a:ext cx="2011680" cy="310896"/>
          </a:xfrm>
          <a:prstGeom prst="rect">
            <a:avLst/>
          </a:prstGeom>
          <a:noFill/>
          <a:ln/>
        </p:spPr>
        <p:txBody>
          <a:bodyPr wrap="square" lIns="0" tIns="0" rIns="0" bIns="0" rtlCol="0" anchor="ctr"/>
          <a:lstStyle/>
          <a:p>
            <a:pPr indent="0" marL="0">
              <a:buNone/>
            </a:pPr>
            <a:r>
              <a:rPr lang="en-US" sz="1700" b="1" dirty="0">
                <a:solidFill>
                  <a:schemeClr val="accent1"/>
                </a:solidFill>
              </a:rPr>
              <a:t>1,918 ms</a:t>
            </a:r>
            <a:endParaRPr lang="en-US" sz="1700" dirty="0"/>
          </a:p>
        </p:txBody>
      </p:sp>
      <p:sp>
        <p:nvSpPr>
          <p:cNvPr id="7" name="Text 4"/>
          <p:cNvSpPr txBox="1"/>
          <p:nvPr/>
        </p:nvSpPr>
        <p:spPr>
          <a:xfrm>
            <a:off x="6583680" y="1307592"/>
            <a:ext cx="2011680" cy="274320"/>
          </a:xfrm>
          <a:prstGeom prst="rect">
            <a:avLst/>
          </a:prstGeom>
          <a:noFill/>
          <a:ln/>
        </p:spPr>
        <p:txBody>
          <a:bodyPr wrap="square" lIns="0" tIns="0" rIns="0" bIns="0" rtlCol="0" anchor="ctr"/>
          <a:lstStyle/>
          <a:p>
            <a:pPr indent="0" marL="0">
              <a:buNone/>
            </a:pPr>
            <a:r>
              <a:rPr lang="en-US" sz="1000" dirty="0">
                <a:solidFill>
                  <a:schemeClr val="tx1"/>
                </a:solidFill>
              </a:rPr>
              <a:t>average wait (SJF-EMA: 2,804)</a:t>
            </a:r>
            <a:endParaRPr lang="en-US" sz="1000" dirty="0"/>
          </a:p>
        </p:txBody>
      </p:sp>
      <p:sp>
        <p:nvSpPr>
          <p:cNvPr id="8" name="Live stat 2"/>
          <p:cNvSpPr/>
          <p:nvPr/>
        </p:nvSpPr>
        <p:spPr>
          <a:xfrm>
            <a:off x="6446520" y="1728216"/>
            <a:ext cx="2240280" cy="658368"/>
          </a:xfrm>
          <a:prstGeom prst="roundRect">
            <a:avLst>
              <a:gd name="adj" fmla="val 11111"/>
            </a:avLst>
          </a:prstGeom>
          <a:solidFill>
            <a:schemeClr val="bg2"/>
          </a:solidFill>
          <a:ln w="12700">
            <a:solidFill>
              <a:schemeClr val="bg2"/>
            </a:solidFill>
            <a:prstDash val="solid"/>
          </a:ln>
        </p:spPr>
      </p:sp>
      <p:sp>
        <p:nvSpPr>
          <p:cNvPr id="9" name="Text 6"/>
          <p:cNvSpPr txBox="1"/>
          <p:nvPr/>
        </p:nvSpPr>
        <p:spPr>
          <a:xfrm>
            <a:off x="6583680" y="1773936"/>
            <a:ext cx="2011680" cy="310896"/>
          </a:xfrm>
          <a:prstGeom prst="rect">
            <a:avLst/>
          </a:prstGeom>
          <a:noFill/>
          <a:ln/>
        </p:spPr>
        <p:txBody>
          <a:bodyPr wrap="square" lIns="0" tIns="0" rIns="0" bIns="0" rtlCol="0" anchor="ctr"/>
          <a:lstStyle/>
          <a:p>
            <a:pPr indent="0" marL="0">
              <a:buNone/>
            </a:pPr>
            <a:r>
              <a:rPr lang="en-US" sz="1700" b="1" dirty="0">
                <a:solidFill>
                  <a:schemeClr val="accent1"/>
                </a:solidFill>
              </a:rPr>
              <a:t>21,038 ms</a:t>
            </a:r>
            <a:endParaRPr lang="en-US" sz="1700" dirty="0"/>
          </a:p>
        </p:txBody>
      </p:sp>
      <p:sp>
        <p:nvSpPr>
          <p:cNvPr id="10" name="Text 7"/>
          <p:cNvSpPr txBox="1"/>
          <p:nvPr/>
        </p:nvSpPr>
        <p:spPr>
          <a:xfrm>
            <a:off x="6583680" y="2075688"/>
            <a:ext cx="2011680" cy="274320"/>
          </a:xfrm>
          <a:prstGeom prst="rect">
            <a:avLst/>
          </a:prstGeom>
          <a:noFill/>
          <a:ln/>
        </p:spPr>
        <p:txBody>
          <a:bodyPr wrap="square" lIns="0" tIns="0" rIns="0" bIns="0" rtlCol="0" anchor="ctr"/>
          <a:lstStyle/>
          <a:p>
            <a:pPr indent="0" marL="0">
              <a:buNone/>
            </a:pPr>
            <a:r>
              <a:rPr lang="en-US" sz="1000" dirty="0">
                <a:solidFill>
                  <a:schemeClr val="tx1"/>
                </a:solidFill>
              </a:rPr>
              <a:t>worst-case wait (SJF-EMA: 27,720)</a:t>
            </a:r>
            <a:endParaRPr lang="en-US" sz="1000" dirty="0"/>
          </a:p>
        </p:txBody>
      </p:sp>
      <p:sp>
        <p:nvSpPr>
          <p:cNvPr id="11" name="Live stat 3"/>
          <p:cNvSpPr/>
          <p:nvPr/>
        </p:nvSpPr>
        <p:spPr>
          <a:xfrm>
            <a:off x="6446520" y="2496312"/>
            <a:ext cx="2240280" cy="658368"/>
          </a:xfrm>
          <a:prstGeom prst="roundRect">
            <a:avLst>
              <a:gd name="adj" fmla="val 11111"/>
            </a:avLst>
          </a:prstGeom>
          <a:solidFill>
            <a:schemeClr val="bg2"/>
          </a:solidFill>
          <a:ln w="12700">
            <a:solidFill>
              <a:schemeClr val="bg2"/>
            </a:solidFill>
            <a:prstDash val="solid"/>
          </a:ln>
        </p:spPr>
      </p:sp>
      <p:sp>
        <p:nvSpPr>
          <p:cNvPr id="12" name="Text 9"/>
          <p:cNvSpPr txBox="1"/>
          <p:nvPr/>
        </p:nvSpPr>
        <p:spPr>
          <a:xfrm>
            <a:off x="6583680" y="2542032"/>
            <a:ext cx="2011680" cy="310896"/>
          </a:xfrm>
          <a:prstGeom prst="rect">
            <a:avLst/>
          </a:prstGeom>
          <a:noFill/>
          <a:ln/>
        </p:spPr>
        <p:txBody>
          <a:bodyPr wrap="square" lIns="0" tIns="0" rIns="0" bIns="0" rtlCol="0" anchor="ctr"/>
          <a:lstStyle/>
          <a:p>
            <a:pPr indent="0" marL="0">
              <a:buNone/>
            </a:pPr>
            <a:r>
              <a:rPr lang="en-US" sz="1700" b="1" dirty="0">
                <a:solidFill>
                  <a:schemeClr val="accent1"/>
                </a:solidFill>
              </a:rPr>
              <a:t>6,302</a:t>
            </a:r>
            <a:endParaRPr lang="en-US" sz="1700" dirty="0"/>
          </a:p>
        </p:txBody>
      </p:sp>
      <p:sp>
        <p:nvSpPr>
          <p:cNvPr id="13" name="Text 10"/>
          <p:cNvSpPr txBox="1"/>
          <p:nvPr/>
        </p:nvSpPr>
        <p:spPr>
          <a:xfrm>
            <a:off x="6583680" y="2843784"/>
            <a:ext cx="2011680" cy="274320"/>
          </a:xfrm>
          <a:prstGeom prst="rect">
            <a:avLst/>
          </a:prstGeom>
          <a:noFill/>
          <a:ln/>
        </p:spPr>
        <p:txBody>
          <a:bodyPr wrap="square" lIns="0" tIns="0" rIns="0" bIns="0" rtlCol="0" anchor="ctr"/>
          <a:lstStyle/>
          <a:p>
            <a:pPr indent="0" marL="0">
              <a:buNone/>
            </a:pPr>
            <a:r>
              <a:rPr lang="en-US" sz="1000" dirty="0">
                <a:solidFill>
                  <a:schemeClr val="tx1"/>
                </a:solidFill>
              </a:rPr>
              <a:t>context switches (RR-5: 15,592)</a:t>
            </a:r>
            <a:endParaRPr lang="en-US" sz="1000" dirty="0"/>
          </a:p>
        </p:txBody>
      </p:sp>
      <p:sp>
        <p:nvSpPr>
          <p:cNvPr id="14" name="Live stat 4"/>
          <p:cNvSpPr/>
          <p:nvPr/>
        </p:nvSpPr>
        <p:spPr>
          <a:xfrm>
            <a:off x="6446520" y="3264408"/>
            <a:ext cx="2240280" cy="658368"/>
          </a:xfrm>
          <a:prstGeom prst="roundRect">
            <a:avLst>
              <a:gd name="adj" fmla="val 11111"/>
            </a:avLst>
          </a:prstGeom>
          <a:solidFill>
            <a:schemeClr val="bg2"/>
          </a:solidFill>
          <a:ln w="12700">
            <a:solidFill>
              <a:schemeClr val="bg2"/>
            </a:solidFill>
            <a:prstDash val="solid"/>
          </a:ln>
        </p:spPr>
      </p:sp>
      <p:sp>
        <p:nvSpPr>
          <p:cNvPr id="15" name="Text 12"/>
          <p:cNvSpPr txBox="1"/>
          <p:nvPr/>
        </p:nvSpPr>
        <p:spPr>
          <a:xfrm>
            <a:off x="6583680" y="3310128"/>
            <a:ext cx="2011680" cy="310896"/>
          </a:xfrm>
          <a:prstGeom prst="rect">
            <a:avLst/>
          </a:prstGeom>
          <a:noFill/>
          <a:ln/>
        </p:spPr>
        <p:txBody>
          <a:bodyPr wrap="square" lIns="0" tIns="0" rIns="0" bIns="0" rtlCol="0" anchor="ctr"/>
          <a:lstStyle/>
          <a:p>
            <a:pPr indent="0" marL="0">
              <a:buNone/>
            </a:pPr>
            <a:r>
              <a:rPr lang="en-US" sz="1700" b="1" dirty="0">
                <a:solidFill>
                  <a:schemeClr val="accent1"/>
                </a:solidFill>
              </a:rPr>
              <a:t>9.2 ms</a:t>
            </a:r>
            <a:endParaRPr lang="en-US" sz="1700" dirty="0"/>
          </a:p>
        </p:txBody>
      </p:sp>
      <p:sp>
        <p:nvSpPr>
          <p:cNvPr id="16" name="Text 13"/>
          <p:cNvSpPr txBox="1"/>
          <p:nvPr/>
        </p:nvSpPr>
        <p:spPr>
          <a:xfrm>
            <a:off x="6583680" y="3611880"/>
            <a:ext cx="2011680" cy="274320"/>
          </a:xfrm>
          <a:prstGeom prst="rect">
            <a:avLst/>
          </a:prstGeom>
          <a:noFill/>
          <a:ln/>
        </p:spPr>
        <p:txBody>
          <a:bodyPr wrap="square" lIns="0" tIns="0" rIns="0" bIns="0" rtlCol="0" anchor="ctr"/>
          <a:lstStyle/>
          <a:p>
            <a:pPr indent="0" marL="0">
              <a:buNone/>
            </a:pPr>
            <a:r>
              <a:rPr lang="en-US" sz="1000" dirty="0">
                <a:solidFill>
                  <a:schemeClr val="tx1"/>
                </a:solidFill>
              </a:rPr>
              <a:t>prediction error (EMA: 10.4)</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Results across all six workloads</a:t>
            </a:r>
            <a:endParaRPr lang="en-US" sz="2600" dirty="0"/>
          </a:p>
        </p:txBody>
      </p:sp>
      <p:graphicFrame>
        <p:nvGraphicFramePr>
          <p:cNvPr id="8" name="Per-workload table"/>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2011680"/>
                <a:gridCol w="1645920"/>
                <a:gridCol w="1737360"/>
                <a:gridCol w="1371600"/>
                <a:gridCol w="1463040"/>
              </a:tblGrid>
              <a:tr h="310896">
                <a:tc>
                  <a:txBody>
                    <a:bodyPr/>
                    <a:lstStyle/>
                    <a:p>
                      <a:pPr indent="0" marL="0">
                        <a:buNone/>
                      </a:pPr>
                      <a:r>
                        <a:rPr lang="en-US" sz="1200" b="1" dirty="0">
                          <a:solidFill>
                            <a:schemeClr val="bg1"/>
                          </a:solidFill>
                        </a:rPr>
                        <a:t>Workload</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Avg wait vs SJF-EMA</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Worst wait vs SJF-EMA</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Seeds better</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Mean quantum</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tx2"/>
                    </a:solidFill>
                  </a:tcPr>
                </a:tc>
              </a:tr>
              <a:tr h="310896">
                <a:tc>
                  <a:txBody>
                    <a:bodyPr/>
                    <a:lstStyle/>
                    <a:p>
                      <a:pPr algn="l" indent="0" marL="0">
                        <a:buNone/>
                      </a:pPr>
                      <a:r>
                        <a:rPr lang="en-US" sz="1200" dirty="0">
                          <a:solidFill>
                            <a:schemeClr val="tx1"/>
                          </a:solidFill>
                        </a:rPr>
                        <a:t>W1 CPU-bound</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−1.9%</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−56%</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7 / 10</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92 ms</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r>
              <a:tr h="310896">
                <a:tc>
                  <a:txBody>
                    <a:bodyPr/>
                    <a:lstStyle/>
                    <a:p>
                      <a:pPr algn="l" indent="0" marL="0">
                        <a:buNone/>
                      </a:pPr>
                      <a:r>
                        <a:rPr lang="en-US" sz="1200" dirty="0">
                          <a:solidFill>
                            <a:schemeClr val="tx1"/>
                          </a:solidFill>
                        </a:rPr>
                        <a:t>W2 I/O-bound</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+13.8%</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+0.5%</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 / 10</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3.5 ms</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r>
              <a:tr h="310896">
                <a:tc>
                  <a:txBody>
                    <a:bodyPr/>
                    <a:lstStyle/>
                    <a:p>
                      <a:pPr algn="l" indent="0" marL="0">
                        <a:buNone/>
                      </a:pPr>
                      <a:r>
                        <a:rPr lang="en-US" sz="1200" dirty="0">
                          <a:solidFill>
                            <a:schemeClr val="tx1"/>
                          </a:solidFill>
                        </a:rPr>
                        <a:t>W3 Interactive</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+5.3%</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−27%</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2 / 10</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6.4 ms</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r>
              <a:tr h="310896">
                <a:tc>
                  <a:txBody>
                    <a:bodyPr/>
                    <a:lstStyle/>
                    <a:p>
                      <a:pPr algn="l" indent="0" marL="0">
                        <a:buNone/>
                      </a:pPr>
                      <a:r>
                        <a:rPr lang="en-US" sz="1200" b="1" dirty="0">
                          <a:solidFill>
                            <a:schemeClr val="tx1"/>
                          </a:solidFill>
                        </a:rPr>
                        <a:t>W4 Mixed</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1"/>
                          </a:solidFill>
                        </a:rPr>
                        <a:t>−27.4%</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1"/>
                          </a:solidFill>
                        </a:rPr>
                        <a:t>−23%</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1"/>
                          </a:solidFill>
                        </a:rPr>
                        <a:t>10 / 10</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1"/>
                          </a:solidFill>
                        </a:rPr>
                        <a:t>18 ms</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2"/>
                    </a:solidFill>
                  </a:tcPr>
                </a:tc>
              </a:tr>
              <a:tr h="310896">
                <a:tc>
                  <a:txBody>
                    <a:bodyPr/>
                    <a:lstStyle/>
                    <a:p>
                      <a:pPr algn="l" indent="0" marL="0">
                        <a:buNone/>
                      </a:pPr>
                      <a:r>
                        <a:rPr lang="en-US" sz="1200" dirty="0">
                          <a:solidFill>
                            <a:schemeClr val="tx1"/>
                          </a:solidFill>
                        </a:rPr>
                        <a:t>W5 Phase-changing</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−1.7%</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−53%</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4 / 10</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95 ms</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r>
              <a:tr h="310896">
                <a:tc>
                  <a:txBody>
                    <a:bodyPr/>
                    <a:lstStyle/>
                    <a:p>
                      <a:pPr algn="l" indent="0" marL="0">
                        <a:buNone/>
                      </a:pPr>
                      <a:r>
                        <a:rPr lang="en-US" sz="1200" dirty="0">
                          <a:solidFill>
                            <a:schemeClr val="tx1"/>
                          </a:solidFill>
                        </a:rPr>
                        <a:t>W6 Overload</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+2.6%</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−2%</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2 / 10</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14 ms</a:t>
                      </a:r>
                      <a:endParaRPr lang="en-US" sz="12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r>
            </a:tbl>
          </a:graphicData>
        </a:graphic>
      </p:graphicFrame>
      <p:sp>
        <p:nvSpPr>
          <p:cNvPr id="4" name="Helps card"/>
          <p:cNvSpPr/>
          <p:nvPr/>
        </p:nvSpPr>
        <p:spPr>
          <a:xfrm>
            <a:off x="457200" y="3429000"/>
            <a:ext cx="3977640" cy="1097280"/>
          </a:xfrm>
          <a:prstGeom prst="roundRect">
            <a:avLst>
              <a:gd name="adj" fmla="val 6667"/>
            </a:avLst>
          </a:prstGeom>
          <a:solidFill>
            <a:schemeClr val="bg2"/>
          </a:solidFill>
          <a:ln w="12700">
            <a:solidFill>
              <a:schemeClr val="bg2"/>
            </a:solidFill>
            <a:prstDash val="solid"/>
          </a:ln>
        </p:spPr>
      </p:sp>
      <p:sp>
        <p:nvSpPr>
          <p:cNvPr id="5" name="Text 2"/>
          <p:cNvSpPr txBox="1"/>
          <p:nvPr/>
        </p:nvSpPr>
        <p:spPr>
          <a:xfrm>
            <a:off x="640080" y="3520440"/>
            <a:ext cx="3657600" cy="274320"/>
          </a:xfrm>
          <a:prstGeom prst="rect">
            <a:avLst/>
          </a:prstGeom>
          <a:noFill/>
          <a:ln/>
        </p:spPr>
        <p:txBody>
          <a:bodyPr wrap="square" lIns="0" tIns="0" rIns="0" bIns="0" rtlCol="0" anchor="ctr"/>
          <a:lstStyle/>
          <a:p>
            <a:pPr indent="0" marL="0">
              <a:buNone/>
            </a:pPr>
            <a:r>
              <a:rPr lang="en-US" sz="1400" b="1" dirty="0">
                <a:solidFill>
                  <a:schemeClr val="accent1"/>
                </a:solidFill>
              </a:rPr>
              <a:t>Where it helps</a:t>
            </a:r>
            <a:endParaRPr lang="en-US" sz="1400" dirty="0"/>
          </a:p>
        </p:txBody>
      </p:sp>
      <p:sp>
        <p:nvSpPr>
          <p:cNvPr id="6" name="Text 3"/>
          <p:cNvSpPr txBox="1"/>
          <p:nvPr/>
        </p:nvSpPr>
        <p:spPr>
          <a:xfrm>
            <a:off x="640080" y="3813048"/>
            <a:ext cx="3657600" cy="658368"/>
          </a:xfrm>
          <a:prstGeom prst="rect">
            <a:avLst/>
          </a:prstGeom>
          <a:noFill/>
          <a:ln/>
        </p:spPr>
        <p:txBody>
          <a:bodyPr wrap="square" lIns="0" tIns="0" rIns="0" bIns="0" rtlCol="0" anchor="ctr"/>
          <a:lstStyle/>
          <a:p>
            <a:pPr indent="0" marL="0">
              <a:buNone/>
            </a:pPr>
            <a:r>
              <a:rPr lang="en-US" sz="1200" dirty="0">
                <a:solidFill>
                  <a:schemeClr val="tx1"/>
                </a:solidFill>
              </a:rPr>
              <a:t>Mixed workloads, where short and long bursts compete. Ageing halves the worst-case wait on W1 and W5.</a:t>
            </a:r>
            <a:endParaRPr lang="en-US" sz="1200" dirty="0"/>
          </a:p>
        </p:txBody>
      </p:sp>
      <p:sp>
        <p:nvSpPr>
          <p:cNvPr id="7" name="Limits card"/>
          <p:cNvSpPr/>
          <p:nvPr/>
        </p:nvSpPr>
        <p:spPr>
          <a:xfrm>
            <a:off x="4709160" y="3429000"/>
            <a:ext cx="3977640" cy="1097280"/>
          </a:xfrm>
          <a:prstGeom prst="roundRect">
            <a:avLst>
              <a:gd name="adj" fmla="val 6667"/>
            </a:avLst>
          </a:prstGeom>
          <a:solidFill>
            <a:schemeClr val="bg2"/>
          </a:solidFill>
          <a:ln w="12700">
            <a:solidFill>
              <a:schemeClr val="bg2"/>
            </a:solidFill>
            <a:prstDash val="solid"/>
          </a:ln>
        </p:spPr>
      </p:sp>
      <p:sp>
        <p:nvSpPr>
          <p:cNvPr id="8" name="Text 5"/>
          <p:cNvSpPr txBox="1"/>
          <p:nvPr/>
        </p:nvSpPr>
        <p:spPr>
          <a:xfrm>
            <a:off x="4892040" y="3520440"/>
            <a:ext cx="3657600" cy="274320"/>
          </a:xfrm>
          <a:prstGeom prst="rect">
            <a:avLst/>
          </a:prstGeom>
          <a:noFill/>
          <a:ln/>
        </p:spPr>
        <p:txBody>
          <a:bodyPr wrap="square" lIns="0" tIns="0" rIns="0" bIns="0" rtlCol="0" anchor="ctr"/>
          <a:lstStyle/>
          <a:p>
            <a:pPr indent="0" marL="0">
              <a:buNone/>
            </a:pPr>
            <a:r>
              <a:rPr lang="en-US" sz="1400" b="1" dirty="0">
                <a:solidFill>
                  <a:schemeClr val="accent2"/>
                </a:solidFill>
              </a:rPr>
              <a:t>Where it does not</a:t>
            </a:r>
            <a:endParaRPr lang="en-US" sz="1400" dirty="0"/>
          </a:p>
        </p:txBody>
      </p:sp>
      <p:sp>
        <p:nvSpPr>
          <p:cNvPr id="9" name="Text 6"/>
          <p:cNvSpPr txBox="1"/>
          <p:nvPr/>
        </p:nvSpPr>
        <p:spPr>
          <a:xfrm>
            <a:off x="4892040" y="3813048"/>
            <a:ext cx="3657600" cy="658368"/>
          </a:xfrm>
          <a:prstGeom prst="rect">
            <a:avLst/>
          </a:prstGeom>
          <a:noFill/>
          <a:ln/>
        </p:spPr>
        <p:txBody>
          <a:bodyPr wrap="square" lIns="0" tIns="0" rIns="0" bIns="0" rtlCol="0" anchor="ctr"/>
          <a:lstStyle/>
          <a:p>
            <a:pPr indent="0" marL="0">
              <a:buNone/>
            </a:pPr>
            <a:r>
              <a:rPr lang="en-US" sz="1200" dirty="0">
                <a:solidFill>
                  <a:schemeClr val="tx1"/>
                </a:solidFill>
              </a:rPr>
              <a:t>All-I/O work (+14%): tiny random bursts leave nothing to predict. Under overload, ageing drifts towards FCFS.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Why it works: adaptive quantum and ageing</a:t>
            </a:r>
            <a:endParaRPr lang="en-US" sz="2600" dirty="0"/>
          </a:p>
        </p:txBody>
      </p:sp>
      <p:pic>
        <p:nvPicPr>
          <p:cNvPr id="3" name="Quantum over time chart" descr="/Users/Shivaansh/Desktop/ai_cpu_scheduler/figures/fig4_quantum_over_time.png">    </p:cNvPr>
          <p:cNvPicPr>
            <a:picLocks noChangeAspect="1"/>
          </p:cNvPicPr>
          <p:nvPr/>
        </p:nvPicPr>
        <p:blipFill>
          <a:blip r:embed="rId1"/>
          <a:stretch>
            <a:fillRect/>
          </a:stretch>
        </p:blipFill>
        <p:spPr>
          <a:xfrm>
            <a:off x="457200" y="1005840"/>
            <a:ext cx="4663440" cy="2386584"/>
          </a:xfrm>
          <a:prstGeom prst="rect">
            <a:avLst/>
          </a:prstGeom>
        </p:spPr>
      </p:pic>
      <p:sp>
        <p:nvSpPr>
          <p:cNvPr id="4" name="Text 1"/>
          <p:cNvSpPr txBox="1"/>
          <p:nvPr/>
        </p:nvSpPr>
        <p:spPr>
          <a:xfrm>
            <a:off x="457200" y="3456432"/>
            <a:ext cx="4663440" cy="228600"/>
          </a:xfrm>
          <a:prstGeom prst="rect">
            <a:avLst/>
          </a:prstGeom>
          <a:noFill/>
          <a:ln/>
        </p:spPr>
        <p:txBody>
          <a:bodyPr wrap="square" lIns="0" tIns="0" rIns="0" bIns="0" rtlCol="0" anchor="ctr"/>
          <a:lstStyle/>
          <a:p>
            <a:pPr indent="0" marL="0">
              <a:buNone/>
            </a:pPr>
            <a:r>
              <a:rPr lang="en-US" sz="1000" i="1" dirty="0">
                <a:solidFill>
                  <a:schemeClr val="accent3"/>
                </a:solidFill>
              </a:rPr>
              <a:t>The quantum follows the workload: about 6 ms (interactive), close to 100 ms (CPU-bound), 3.5 ms (I/O-bound)</a:t>
            </a:r>
            <a:endParaRPr lang="en-US" sz="1000" dirty="0"/>
          </a:p>
        </p:txBody>
      </p:sp>
      <p:sp>
        <p:nvSpPr>
          <p:cNvPr id="5" name="Text 2"/>
          <p:cNvSpPr txBox="1"/>
          <p:nvPr/>
        </p:nvSpPr>
        <p:spPr>
          <a:xfrm>
            <a:off x="5394960" y="960120"/>
            <a:ext cx="3291840" cy="274320"/>
          </a:xfrm>
          <a:prstGeom prst="rect">
            <a:avLst/>
          </a:prstGeom>
          <a:noFill/>
          <a:ln/>
        </p:spPr>
        <p:txBody>
          <a:bodyPr wrap="square" lIns="0" tIns="0" rIns="0" bIns="0" rtlCol="0" anchor="ctr"/>
          <a:lstStyle/>
          <a:p>
            <a:pPr indent="0" marL="0">
              <a:buNone/>
            </a:pPr>
            <a:r>
              <a:rPr lang="en-US" sz="1300" b="1" dirty="0">
                <a:solidFill>
                  <a:schemeClr val="tx2"/>
                </a:solidFill>
              </a:rPr>
              <a:t>Ablation on W5 (ms, mean of 10 seeds)</a:t>
            </a:r>
            <a:endParaRPr lang="en-US" sz="1300" dirty="0"/>
          </a:p>
        </p:txBody>
      </p:sp>
      <p:graphicFrame>
        <p:nvGraphicFramePr>
          <p:cNvPr id="9" name="Ablation table"/>
          <p:cNvGraphicFramePr>
            <a:graphicFrameLocks noGrp="1"/>
          </p:cNvGraphicFramePr>
          <p:nvPr>
            <p:extLst>
              <p:ext uri="{D42A27DB-BD31-4B8C-83A1-F6EECF244321}">
                <p14:modId xmlns:p14="http://schemas.microsoft.com/office/powerpoint/2010/main" val="1579011935"/>
              </p:ext>
            </p:extLst>
          </p:nvPr>
        </p:nvGraphicFramePr>
        <p:xfrm>
          <a:off x="5394960" y="1280160"/>
          <a:ext cx="3291840" cy="914400"/>
        </p:xfrm>
        <a:graphic>
          <a:graphicData uri="http://schemas.openxmlformats.org/drawingml/2006/table">
            <a:tbl>
              <a:tblPr/>
              <a:tblGrid>
                <a:gridCol w="1737360"/>
                <a:gridCol w="731520"/>
                <a:gridCol w="822960"/>
              </a:tblGrid>
              <a:tr h="292608">
                <a:tc>
                  <a:txBody>
                    <a:bodyPr/>
                    <a:lstStyle/>
                    <a:p>
                      <a:pPr indent="0" marL="0">
                        <a:buNone/>
                      </a:pPr>
                      <a:r>
                        <a:rPr lang="en-US" sz="1100" b="1" dirty="0">
                          <a:solidFill>
                            <a:schemeClr val="bg1"/>
                          </a:solidFill>
                        </a:rPr>
                        <a:t>Variant</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Avg</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Worst</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tx2"/>
                    </a:solidFill>
                  </a:tcPr>
                </a:tc>
              </a:tr>
              <a:tr h="292608">
                <a:tc>
                  <a:txBody>
                    <a:bodyPr/>
                    <a:lstStyle/>
                    <a:p>
                      <a:pPr algn="l" indent="0" marL="0">
                        <a:buNone/>
                      </a:pPr>
                      <a:r>
                        <a:rPr lang="en-US" sz="1100" b="1" dirty="0">
                          <a:solidFill>
                            <a:schemeClr val="tx1"/>
                          </a:solidFill>
                        </a:rPr>
                        <a:t>Full scheduler</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2"/>
                    </a:solidFill>
                  </a:tcPr>
                </a:tc>
                <a:tc>
                  <a:txBody>
                    <a:bodyPr/>
                    <a:lstStyle/>
                    <a:p>
                      <a:pPr algn="r" indent="0" marL="0">
                        <a:buNone/>
                      </a:pPr>
                      <a:r>
                        <a:rPr lang="en-US" sz="1100" b="1" dirty="0">
                          <a:solidFill>
                            <a:schemeClr val="tx1"/>
                          </a:solidFill>
                        </a:rPr>
                        <a:t>6,163</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2"/>
                    </a:solidFill>
                  </a:tcPr>
                </a:tc>
                <a:tc>
                  <a:txBody>
                    <a:bodyPr/>
                    <a:lstStyle/>
                    <a:p>
                      <a:pPr algn="r" indent="0" marL="0">
                        <a:buNone/>
                      </a:pPr>
                      <a:r>
                        <a:rPr lang="en-US" sz="1100" b="1" dirty="0">
                          <a:solidFill>
                            <a:schemeClr val="tx1"/>
                          </a:solidFill>
                        </a:rPr>
                        <a:t>25,831</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2"/>
                    </a:solidFill>
                  </a:tcPr>
                </a:tc>
              </a:tr>
              <a:tr h="292608">
                <a:tc>
                  <a:txBody>
                    <a:bodyPr/>
                    <a:lstStyle/>
                    <a:p>
                      <a:pPr algn="l" indent="0" marL="0">
                        <a:buNone/>
                      </a:pPr>
                      <a:r>
                        <a:rPr lang="en-US" sz="1100" dirty="0">
                          <a:solidFill>
                            <a:schemeClr val="tx1"/>
                          </a:solidFill>
                        </a:rPr>
                        <a:t>No ageing</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6,196</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53,915</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r>
              <a:tr h="292608">
                <a:tc>
                  <a:txBody>
                    <a:bodyPr/>
                    <a:lstStyle/>
                    <a:p>
                      <a:pPr algn="l" indent="0" marL="0">
                        <a:buNone/>
                      </a:pPr>
                      <a:r>
                        <a:rPr lang="en-US" sz="1100" dirty="0">
                          <a:solidFill>
                            <a:schemeClr val="tx1"/>
                          </a:solidFill>
                        </a:rPr>
                        <a:t>Fixed 10 ms quantum</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6,864</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39,254</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r>
              <a:tr h="292608">
                <a:tc>
                  <a:txBody>
                    <a:bodyPr/>
                    <a:lstStyle/>
                    <a:p>
                      <a:pPr algn="l" indent="0" marL="0">
                        <a:buNone/>
                      </a:pPr>
                      <a:r>
                        <a:rPr lang="en-US" sz="1100" dirty="0">
                          <a:solidFill>
                            <a:schemeClr val="tx1"/>
                          </a:solidFill>
                        </a:rPr>
                        <a:t>Prediction only</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6,325</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53,593</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r>
            </a:tbl>
          </a:graphicData>
        </a:graphic>
      </p:graphicFrame>
      <p:sp>
        <p:nvSpPr>
          <p:cNvPr id="7" name="Ablation takeaways"/>
          <p:cNvSpPr/>
          <p:nvPr/>
        </p:nvSpPr>
        <p:spPr>
          <a:xfrm>
            <a:off x="5394960" y="2926080"/>
            <a:ext cx="3291840" cy="1600200"/>
          </a:xfrm>
          <a:prstGeom prst="roundRect">
            <a:avLst>
              <a:gd name="adj" fmla="val 4571"/>
            </a:avLst>
          </a:prstGeom>
          <a:solidFill>
            <a:schemeClr val="bg2"/>
          </a:solidFill>
          <a:ln w="12700">
            <a:solidFill>
              <a:schemeClr val="bg2"/>
            </a:solidFill>
            <a:prstDash val="solid"/>
          </a:ln>
        </p:spPr>
      </p:sp>
      <p:sp>
        <p:nvSpPr>
          <p:cNvPr id="8" name="Text 4"/>
          <p:cNvSpPr txBox="1"/>
          <p:nvPr/>
        </p:nvSpPr>
        <p:spPr>
          <a:xfrm>
            <a:off x="5532120" y="3017520"/>
            <a:ext cx="3063240" cy="146304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Without ageing the worst case doubles</a:t>
            </a:r>
            <a:endParaRPr lang="en-US" sz="1200" dirty="0"/>
          </a:p>
          <a:p>
            <a:pPr marL="177800" indent="-177800">
              <a:spcAft>
                <a:spcPts val="600"/>
              </a:spcAft>
              <a:buSzPct val="100000"/>
              <a:buChar char="•"/>
            </a:pPr>
            <a:r>
              <a:rPr lang="en-US" sz="1200" dirty="0">
                <a:solidFill>
                  <a:schemeClr val="tx1"/>
                </a:solidFill>
              </a:rPr>
              <a:t>A fixed quantum costs 11% average, 52% worst</a:t>
            </a:r>
            <a:endParaRPr lang="en-US" sz="1200" dirty="0"/>
          </a:p>
          <a:p>
            <a:pPr marL="177800" indent="-177800">
              <a:spcAft>
                <a:spcPts val="600"/>
              </a:spcAft>
              <a:buSzPct val="100000"/>
              <a:buChar char="•"/>
            </a:pPr>
            <a:r>
              <a:rPr lang="en-US" sz="1200" dirty="0">
                <a:solidFill>
                  <a:schemeClr val="tx1"/>
                </a:solidFill>
              </a:rPr>
              <a:t>Better prediction alone gains only 5% on W4: the gain comes from using it twice</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Comparison with existing schedulers (W4)</a:t>
            </a:r>
            <a:endParaRPr lang="en-US" sz="2600" dirty="0"/>
          </a:p>
        </p:txBody>
      </p:sp>
      <p:graphicFrame>
        <p:nvGraphicFramePr>
          <p:cNvPr id="10" name="Comparison table"/>
          <p:cNvGraphicFramePr>
            <a:graphicFrameLocks noGrp="1"/>
          </p:cNvGraphicFramePr>
          <p:nvPr>
            <p:extLst>
              <p:ext uri="{D42A27DB-BD31-4B8C-83A1-F6EECF244321}">
                <p14:modId xmlns:p14="http://schemas.microsoft.com/office/powerpoint/2010/main" val="1579011935"/>
              </p:ext>
            </p:extLst>
          </p:nvPr>
        </p:nvGraphicFramePr>
        <p:xfrm>
          <a:off x="457200" y="960120"/>
          <a:ext cx="5394960" cy="914400"/>
        </p:xfrm>
        <a:graphic>
          <a:graphicData uri="http://schemas.openxmlformats.org/drawingml/2006/table">
            <a:tbl>
              <a:tblPr/>
              <a:tblGrid>
                <a:gridCol w="1325880"/>
                <a:gridCol w="868680"/>
                <a:gridCol w="914400"/>
                <a:gridCol w="822960"/>
                <a:gridCol w="731520"/>
                <a:gridCol w="731520"/>
              </a:tblGrid>
              <a:tr h="301752">
                <a:tc>
                  <a:txBody>
                    <a:bodyPr/>
                    <a:lstStyle/>
                    <a:p>
                      <a:pPr indent="0" marL="0">
                        <a:buNone/>
                      </a:pPr>
                      <a:r>
                        <a:rPr lang="en-US" sz="1100" b="1" dirty="0">
                          <a:solidFill>
                            <a:schemeClr val="bg1"/>
                          </a:solidFill>
                        </a:rPr>
                        <a:t>Scheduler</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Avg wait (ms)</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Worst wait (ms)</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Response (ms)</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Switches</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Ours vs this</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tx2"/>
                    </a:solidFill>
                  </a:tcPr>
                </a:tc>
              </a:tr>
              <a:tr h="301752">
                <a:tc>
                  <a:txBody>
                    <a:bodyPr/>
                    <a:lstStyle/>
                    <a:p>
                      <a:pPr algn="l" indent="0" marL="0">
                        <a:buNone/>
                      </a:pPr>
                      <a:r>
                        <a:rPr lang="en-US" sz="1100" dirty="0">
                          <a:solidFill>
                            <a:schemeClr val="tx1"/>
                          </a:solidFill>
                        </a:rPr>
                        <a:t>FCFS</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4,003</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19,407</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240</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3,962</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−55.4%</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r>
              <a:tr h="301752">
                <a:tc>
                  <a:txBody>
                    <a:bodyPr/>
                    <a:lstStyle/>
                    <a:p>
                      <a:pPr algn="l" indent="0" marL="0">
                        <a:buNone/>
                      </a:pPr>
                      <a:r>
                        <a:rPr lang="en-US" sz="1100" dirty="0">
                          <a:solidFill>
                            <a:schemeClr val="tx1"/>
                          </a:solidFill>
                        </a:rPr>
                        <a:t>SJF-EMA</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2,460</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23,766</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71.3</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3,977</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−27.4%</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r>
              <a:tr h="301752">
                <a:tc>
                  <a:txBody>
                    <a:bodyPr/>
                    <a:lstStyle/>
                    <a:p>
                      <a:pPr algn="l" indent="0" marL="0">
                        <a:buNone/>
                      </a:pPr>
                      <a:r>
                        <a:rPr lang="en-US" sz="1100" dirty="0">
                          <a:solidFill>
                            <a:schemeClr val="tx1"/>
                          </a:solidFill>
                        </a:rPr>
                        <a:t>SRTF-EMA</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1,729</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24,903</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7.3</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6,902</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+3.3%</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r>
              <a:tr h="301752">
                <a:tc>
                  <a:txBody>
                    <a:bodyPr/>
                    <a:lstStyle/>
                    <a:p>
                      <a:pPr algn="l" indent="0" marL="0">
                        <a:buNone/>
                      </a:pPr>
                      <a:r>
                        <a:rPr lang="en-US" sz="1100" dirty="0">
                          <a:solidFill>
                            <a:schemeClr val="tx1"/>
                          </a:solidFill>
                        </a:rPr>
                        <a:t>RR-5</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2,180</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14,887</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23.3</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15,328</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−18.1%</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r>
              <a:tr h="301752">
                <a:tc>
                  <a:txBody>
                    <a:bodyPr/>
                    <a:lstStyle/>
                    <a:p>
                      <a:pPr algn="l" indent="0" marL="0">
                        <a:buNone/>
                      </a:pPr>
                      <a:r>
                        <a:rPr lang="en-US" sz="1100" dirty="0">
                          <a:solidFill>
                            <a:schemeClr val="tx1"/>
                          </a:solidFill>
                        </a:rPr>
                        <a:t>RR-20</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2,572</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13,386</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69.3</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6,542</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−30.6%</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r>
              <a:tr h="301752">
                <a:tc>
                  <a:txBody>
                    <a:bodyPr/>
                    <a:lstStyle/>
                    <a:p>
                      <a:pPr algn="l" indent="0" marL="0">
                        <a:buNone/>
                      </a:pPr>
                      <a:r>
                        <a:rPr lang="en-US" sz="1100" dirty="0">
                          <a:solidFill>
                            <a:schemeClr val="tx1"/>
                          </a:solidFill>
                        </a:rPr>
                        <a:t>MLFQ</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1,878</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15,016</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2.8</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11,888</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rPr>
                        <a:t>−4.9%</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1"/>
                    </a:solidFill>
                  </a:tcPr>
                </a:tc>
              </a:tr>
              <a:tr h="301752">
                <a:tc>
                  <a:txBody>
                    <a:bodyPr/>
                    <a:lstStyle/>
                    <a:p>
                      <a:pPr algn="l" indent="0" marL="0">
                        <a:buNone/>
                      </a:pPr>
                      <a:r>
                        <a:rPr lang="en-US" sz="1100" b="1" dirty="0">
                          <a:solidFill>
                            <a:schemeClr val="tx1"/>
                          </a:solidFill>
                        </a:rPr>
                        <a:t>Adaptive-ML (ours)</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2"/>
                    </a:solidFill>
                  </a:tcPr>
                </a:tc>
                <a:tc>
                  <a:txBody>
                    <a:bodyPr/>
                    <a:lstStyle/>
                    <a:p>
                      <a:pPr algn="r" indent="0" marL="0">
                        <a:buNone/>
                      </a:pPr>
                      <a:r>
                        <a:rPr lang="en-US" sz="1100" b="1" dirty="0">
                          <a:solidFill>
                            <a:schemeClr val="tx1"/>
                          </a:solidFill>
                        </a:rPr>
                        <a:t>1,786</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2"/>
                    </a:solidFill>
                  </a:tcPr>
                </a:tc>
                <a:tc>
                  <a:txBody>
                    <a:bodyPr/>
                    <a:lstStyle/>
                    <a:p>
                      <a:pPr algn="r" indent="0" marL="0">
                        <a:buNone/>
                      </a:pPr>
                      <a:r>
                        <a:rPr lang="en-US" sz="1100" b="1" dirty="0">
                          <a:solidFill>
                            <a:schemeClr val="tx1"/>
                          </a:solidFill>
                        </a:rPr>
                        <a:t>18,388</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2"/>
                    </a:solidFill>
                  </a:tcPr>
                </a:tc>
                <a:tc>
                  <a:txBody>
                    <a:bodyPr/>
                    <a:lstStyle/>
                    <a:p>
                      <a:pPr algn="r" indent="0" marL="0">
                        <a:buNone/>
                      </a:pPr>
                      <a:r>
                        <a:rPr lang="en-US" sz="1100" b="1" dirty="0">
                          <a:solidFill>
                            <a:schemeClr val="tx1"/>
                          </a:solidFill>
                        </a:rPr>
                        <a:t>15.4</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2"/>
                    </a:solidFill>
                  </a:tcPr>
                </a:tc>
                <a:tc>
                  <a:txBody>
                    <a:bodyPr/>
                    <a:lstStyle/>
                    <a:p>
                      <a:pPr algn="r" indent="0" marL="0">
                        <a:buNone/>
                      </a:pPr>
                      <a:r>
                        <a:rPr lang="en-US" sz="1100" b="1" dirty="0">
                          <a:solidFill>
                            <a:schemeClr val="tx1"/>
                          </a:solidFill>
                        </a:rPr>
                        <a:t>5,933</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2"/>
                    </a:solidFill>
                  </a:tcPr>
                </a:tc>
                <a:tc>
                  <a:txBody>
                    <a:bodyPr/>
                    <a:lstStyle/>
                    <a:p>
                      <a:pPr algn="r" indent="0" marL="0">
                        <a:buNone/>
                      </a:pPr>
                      <a:r>
                        <a:rPr lang="en-US" sz="1100" b="1" dirty="0">
                          <a:solidFill>
                            <a:schemeClr val="tx1"/>
                          </a:solidFill>
                        </a:rPr>
                        <a:t>–</a:t>
                      </a:r>
                      <a:endParaRPr lang="en-US" sz="1100" dirty="0"/>
                    </a:p>
                  </a:txBody>
                  <a:tcPr marL="91440" marR="91440" marT="45720" marB="45720" anchor="ctr">
                    <a:lnL w="9525" cap="flat" cmpd="sng" algn="ctr">
                      <a:solidFill>
                        <a:srgbClr val="C7D2DE"/>
                      </a:solidFill>
                      <a:prstDash val="solid"/>
                      <a:round/>
                      <a:headEnd type="none" w="med" len="med"/>
                      <a:tailEnd type="none" w="med" len="med"/>
                    </a:lnL>
                    <a:lnR w="9525" cap="flat" cmpd="sng" algn="ctr">
                      <a:solidFill>
                        <a:srgbClr val="C7D2DE"/>
                      </a:solidFill>
                      <a:prstDash val="solid"/>
                      <a:round/>
                      <a:headEnd type="none" w="med" len="med"/>
                      <a:tailEnd type="none" w="med" len="med"/>
                    </a:lnR>
                    <a:lnT w="9525" cap="flat" cmpd="sng" algn="ctr">
                      <a:solidFill>
                        <a:srgbClr val="C7D2DE"/>
                      </a:solidFill>
                      <a:prstDash val="solid"/>
                      <a:round/>
                      <a:headEnd type="none" w="med" len="med"/>
                      <a:tailEnd type="none" w="med" len="med"/>
                    </a:lnT>
                    <a:lnB w="9525" cap="flat" cmpd="sng" algn="ctr">
                      <a:solidFill>
                        <a:srgbClr val="C7D2DE"/>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457200" y="3474720"/>
            <a:ext cx="5394960" cy="228600"/>
          </a:xfrm>
          <a:prstGeom prst="rect">
            <a:avLst/>
          </a:prstGeom>
          <a:noFill/>
          <a:ln/>
        </p:spPr>
        <p:txBody>
          <a:bodyPr wrap="square" lIns="0" tIns="0" rIns="0" bIns="0" rtlCol="0" anchor="ctr"/>
          <a:lstStyle/>
          <a:p>
            <a:pPr indent="0" marL="0">
              <a:buNone/>
            </a:pPr>
            <a:r>
              <a:rPr lang="en-US" sz="1000" i="1" dirty="0">
                <a:solidFill>
                  <a:schemeClr val="accent3"/>
                </a:solidFill>
              </a:rPr>
              <a:t>Mean of 10 seeds. Last column: our average wait relative to that scheduler.</a:t>
            </a:r>
            <a:endParaRPr lang="en-US" sz="1000" dirty="0"/>
          </a:p>
        </p:txBody>
      </p:sp>
      <p:sp>
        <p:nvSpPr>
          <p:cNvPr id="5" name="Comparison notes"/>
          <p:cNvSpPr/>
          <p:nvPr/>
        </p:nvSpPr>
        <p:spPr>
          <a:xfrm>
            <a:off x="6126480" y="960120"/>
            <a:ext cx="2560320" cy="2724912"/>
          </a:xfrm>
          <a:prstGeom prst="roundRect">
            <a:avLst>
              <a:gd name="adj" fmla="val 2857"/>
            </a:avLst>
          </a:prstGeom>
          <a:solidFill>
            <a:schemeClr val="bg2"/>
          </a:solidFill>
          <a:ln w="12700">
            <a:solidFill>
              <a:schemeClr val="bg2"/>
            </a:solidFill>
            <a:prstDash val="solid"/>
          </a:ln>
        </p:spPr>
      </p:sp>
      <p:sp>
        <p:nvSpPr>
          <p:cNvPr id="6" name="Text 3"/>
          <p:cNvSpPr txBox="1"/>
          <p:nvPr/>
        </p:nvSpPr>
        <p:spPr>
          <a:xfrm>
            <a:off x="6263640" y="1078992"/>
            <a:ext cx="2331720" cy="256032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Lower average wait than every classical scheduler except SRTF</a:t>
            </a:r>
            <a:endParaRPr lang="en-US" sz="1200" dirty="0"/>
          </a:p>
          <a:p>
            <a:pPr marL="177800" indent="-177800">
              <a:spcAft>
                <a:spcPts val="600"/>
              </a:spcAft>
              <a:buSzPct val="100000"/>
              <a:buChar char="•"/>
            </a:pPr>
            <a:r>
              <a:rPr lang="en-US" sz="1200" dirty="0">
                <a:solidFill>
                  <a:schemeClr val="tx1"/>
                </a:solidFill>
              </a:rPr>
              <a:t>SRTF is 3% better on average but has a 35% higher worst case and more switches</a:t>
            </a:r>
            <a:endParaRPr lang="en-US" sz="1200" dirty="0"/>
          </a:p>
          <a:p>
            <a:pPr marL="177800" indent="-177800">
              <a:spcAft>
                <a:spcPts val="600"/>
              </a:spcAft>
              <a:buSzPct val="100000"/>
              <a:buChar char="•"/>
            </a:pPr>
            <a:r>
              <a:rPr lang="en-US" sz="1200" dirty="0">
                <a:solidFill>
                  <a:schemeClr val="tx1"/>
                </a:solidFill>
              </a:rPr>
              <a:t>MLFQ is close on average but needs twice the switches</a:t>
            </a:r>
            <a:endParaRPr lang="en-US" sz="1200" dirty="0"/>
          </a:p>
          <a:p>
            <a:pPr marL="177800" indent="-177800">
              <a:spcAft>
                <a:spcPts val="600"/>
              </a:spcAft>
              <a:buSzPct val="100000"/>
              <a:buChar char="•"/>
            </a:pPr>
            <a:r>
              <a:rPr lang="en-US" sz="1200" dirty="0">
                <a:solidFill>
                  <a:schemeClr val="tx1"/>
                </a:solidFill>
              </a:rPr>
              <a:t>Unlike dynamic-quantum RR papers, burst lengths are never assumed known</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Conclusion and future work</a:t>
            </a:r>
            <a:endParaRPr lang="en-US" sz="2800" dirty="0"/>
          </a:p>
        </p:txBody>
      </p:sp>
      <p:sp>
        <p:nvSpPr>
          <p:cNvPr id="3" name="Conclusion column"/>
          <p:cNvSpPr/>
          <p:nvPr/>
        </p:nvSpPr>
        <p:spPr>
          <a:xfrm>
            <a:off x="457200" y="1097280"/>
            <a:ext cx="3977640" cy="2514600"/>
          </a:xfrm>
          <a:prstGeom prst="roundRect">
            <a:avLst>
              <a:gd name="adj" fmla="val 2909"/>
            </a:avLst>
          </a:prstGeom>
          <a:solidFill>
            <a:schemeClr val="bg1">
              <a:alpha val="10000"/>
            </a:schemeClr>
          </a:solidFill>
          <a:ln w="9525">
            <a:solidFill>
              <a:schemeClr val="accent5"/>
            </a:solidFill>
            <a:prstDash val="solid"/>
          </a:ln>
        </p:spPr>
      </p:sp>
      <p:sp>
        <p:nvSpPr>
          <p:cNvPr id="4" name="Text 2"/>
          <p:cNvSpPr txBox="1"/>
          <p:nvPr/>
        </p:nvSpPr>
        <p:spPr>
          <a:xfrm>
            <a:off x="685800" y="1234440"/>
            <a:ext cx="3566160" cy="320040"/>
          </a:xfrm>
          <a:prstGeom prst="rect">
            <a:avLst/>
          </a:prstGeom>
          <a:noFill/>
          <a:ln/>
        </p:spPr>
        <p:txBody>
          <a:bodyPr wrap="square" lIns="0" tIns="0" rIns="0" bIns="0" rtlCol="0" anchor="ctr"/>
          <a:lstStyle/>
          <a:p>
            <a:pPr indent="0" marL="0">
              <a:buNone/>
            </a:pPr>
            <a:r>
              <a:rPr lang="en-US" sz="1700" b="1" dirty="0">
                <a:solidFill>
                  <a:schemeClr val="bg1"/>
                </a:solidFill>
                <a:latin typeface="Cambria" pitchFamily="34" charset="0"/>
                <a:ea typeface="Cambria" pitchFamily="34" charset="-122"/>
                <a:cs typeface="Cambria" pitchFamily="34" charset="-120"/>
              </a:rPr>
              <a:t>Conclusion</a:t>
            </a:r>
            <a:endParaRPr lang="en-US" sz="1700" dirty="0"/>
          </a:p>
        </p:txBody>
      </p:sp>
      <p:sp>
        <p:nvSpPr>
          <p:cNvPr id="5" name="Text 3"/>
          <p:cNvSpPr txBox="1"/>
          <p:nvPr/>
        </p:nvSpPr>
        <p:spPr>
          <a:xfrm>
            <a:off x="685800" y="1645920"/>
            <a:ext cx="3566160" cy="18745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bg1"/>
                </a:solidFill>
              </a:rPr>
              <a:t>Applying the textbook quantum rule automatically from live predictions works</a:t>
            </a:r>
            <a:endParaRPr lang="en-US" sz="1300" dirty="0"/>
          </a:p>
          <a:p>
            <a:pPr marL="177800" indent="-177800">
              <a:spcAft>
                <a:spcPts val="600"/>
              </a:spcAft>
              <a:buSzPct val="100000"/>
              <a:buChar char="•"/>
            </a:pPr>
            <a:r>
              <a:rPr lang="en-US" sz="1300" dirty="0">
                <a:solidFill>
                  <a:schemeClr val="bg1"/>
                </a:solidFill>
              </a:rPr>
              <a:t>27% less waiting on mixed workloads; worst case halved by ageing</a:t>
            </a:r>
            <a:endParaRPr lang="en-US" sz="1300" dirty="0"/>
          </a:p>
          <a:p>
            <a:pPr marL="177800" indent="-177800">
              <a:spcAft>
                <a:spcPts val="600"/>
              </a:spcAft>
              <a:buSzPct val="100000"/>
              <a:buChar char="•"/>
            </a:pPr>
            <a:r>
              <a:rPr lang="en-US" sz="1300" dirty="0">
                <a:solidFill>
                  <a:schemeClr val="bg1"/>
                </a:solidFill>
              </a:rPr>
              <a:t>Not a win everywhere: short random bursts gain nothing</a:t>
            </a:r>
            <a:endParaRPr lang="en-US" sz="1300" dirty="0"/>
          </a:p>
          <a:p>
            <a:pPr marL="177800" indent="-177800">
              <a:spcAft>
                <a:spcPts val="600"/>
              </a:spcAft>
              <a:buSzPct val="100000"/>
              <a:buChar char="•"/>
            </a:pPr>
            <a:r>
              <a:rPr lang="en-US" sz="1300" dirty="0">
                <a:solidFill>
                  <a:schemeClr val="bg1"/>
                </a:solidFill>
              </a:rPr>
              <a:t>The gain comes from using the prediction twice</a:t>
            </a:r>
            <a:endParaRPr lang="en-US" sz="1300" dirty="0"/>
          </a:p>
        </p:txBody>
      </p:sp>
      <p:sp>
        <p:nvSpPr>
          <p:cNvPr id="6" name="Future work column"/>
          <p:cNvSpPr/>
          <p:nvPr/>
        </p:nvSpPr>
        <p:spPr>
          <a:xfrm>
            <a:off x="4709160" y="1097280"/>
            <a:ext cx="3977640" cy="2514600"/>
          </a:xfrm>
          <a:prstGeom prst="roundRect">
            <a:avLst>
              <a:gd name="adj" fmla="val 2909"/>
            </a:avLst>
          </a:prstGeom>
          <a:solidFill>
            <a:schemeClr val="bg1">
              <a:alpha val="10000"/>
            </a:schemeClr>
          </a:solidFill>
          <a:ln w="9525">
            <a:solidFill>
              <a:schemeClr val="accent5"/>
            </a:solidFill>
            <a:prstDash val="solid"/>
          </a:ln>
        </p:spPr>
      </p:sp>
      <p:sp>
        <p:nvSpPr>
          <p:cNvPr id="7" name="Text 5"/>
          <p:cNvSpPr txBox="1"/>
          <p:nvPr/>
        </p:nvSpPr>
        <p:spPr>
          <a:xfrm>
            <a:off x="4937760" y="1234440"/>
            <a:ext cx="3566160" cy="320040"/>
          </a:xfrm>
          <a:prstGeom prst="rect">
            <a:avLst/>
          </a:prstGeom>
          <a:noFill/>
          <a:ln/>
        </p:spPr>
        <p:txBody>
          <a:bodyPr wrap="square" lIns="0" tIns="0" rIns="0" bIns="0" rtlCol="0" anchor="ctr"/>
          <a:lstStyle/>
          <a:p>
            <a:pPr indent="0" marL="0">
              <a:buNone/>
            </a:pPr>
            <a:r>
              <a:rPr lang="en-US" sz="1700" b="1" dirty="0">
                <a:solidFill>
                  <a:schemeClr val="bg1"/>
                </a:solidFill>
                <a:latin typeface="Cambria" pitchFamily="34" charset="0"/>
                <a:ea typeface="Cambria" pitchFamily="34" charset="-122"/>
                <a:cs typeface="Cambria" pitchFamily="34" charset="-120"/>
              </a:rPr>
              <a:t>Future work</a:t>
            </a:r>
            <a:endParaRPr lang="en-US" sz="1700" dirty="0"/>
          </a:p>
        </p:txBody>
      </p:sp>
      <p:sp>
        <p:nvSpPr>
          <p:cNvPr id="8" name="Text 6"/>
          <p:cNvSpPr txBox="1"/>
          <p:nvPr/>
        </p:nvSpPr>
        <p:spPr>
          <a:xfrm>
            <a:off x="4937760" y="1645920"/>
            <a:ext cx="3566160" cy="18745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bg1"/>
                </a:solidFill>
              </a:rPr>
              <a:t>Test on traces from real programs</a:t>
            </a:r>
            <a:endParaRPr lang="en-US" sz="1300" dirty="0"/>
          </a:p>
          <a:p>
            <a:pPr marL="177800" indent="-177800">
              <a:spcAft>
                <a:spcPts val="600"/>
              </a:spcAft>
              <a:buSzPct val="100000"/>
              <a:buChar char="•"/>
            </a:pPr>
            <a:r>
              <a:rPr lang="en-US" sz="1300" dirty="0">
                <a:solidFill>
                  <a:schemeClr val="bg1"/>
                </a:solidFill>
              </a:rPr>
              <a:t>Move the quantum controller into xv6</a:t>
            </a:r>
            <a:endParaRPr lang="en-US" sz="1300" dirty="0"/>
          </a:p>
          <a:p>
            <a:pPr marL="177800" indent="-177800">
              <a:spcAft>
                <a:spcPts val="600"/>
              </a:spcAft>
              <a:buSzPct val="100000"/>
              <a:buChar char="•"/>
            </a:pPr>
            <a:r>
              <a:rPr lang="en-US" sz="1300" dirty="0">
                <a:solidFill>
                  <a:schemeClr val="bg1"/>
                </a:solidFill>
              </a:rPr>
              <a:t>Replace the model with a small tree a kernel can afford</a:t>
            </a:r>
            <a:endParaRPr lang="en-US" sz="1300" dirty="0"/>
          </a:p>
          <a:p>
            <a:pPr marL="177800" indent="-177800">
              <a:spcAft>
                <a:spcPts val="600"/>
              </a:spcAft>
              <a:buSzPct val="100000"/>
              <a:buChar char="•"/>
            </a:pPr>
            <a:r>
              <a:rPr lang="en-US" sz="1300" dirty="0">
                <a:solidFill>
                  <a:schemeClr val="bg1"/>
                </a:solidFill>
              </a:rPr>
              <a:t>Load-aware ageing and multi-core scheduling</a:t>
            </a:r>
            <a:endParaRPr lang="en-US" sz="1300" dirty="0"/>
          </a:p>
        </p:txBody>
      </p:sp>
      <p:sp>
        <p:nvSpPr>
          <p:cNvPr id="9" name="Text 7"/>
          <p:cNvSpPr txBox="1"/>
          <p:nvPr/>
        </p:nvSpPr>
        <p:spPr>
          <a:xfrm>
            <a:off x="457200" y="3931920"/>
            <a:ext cx="8229600" cy="45720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Thank you</a:t>
            </a:r>
            <a:endParaRPr lang="en-US" sz="2200" dirty="0"/>
          </a:p>
        </p:txBody>
      </p:sp>
    </p:spTree>
  </p:cSld>
  <p:clrMapOvr>
    <a:masterClrMapping/>
  </p:clrMapOvr>
</p:sld>
</file>

<file path=ppt/theme/theme1.xml><?xml version="1.0" encoding="utf-8"?>
<a:theme xmlns:a="http://schemas.openxmlformats.org/drawingml/2006/main" name="Adaptive Scheduling">
  <a:themeElements>
    <a:clrScheme name="Adaptive Scheduling">
      <a:dk1>
        <a:srgbClr val="1F2937"/>
      </a:dk1>
      <a:lt1>
        <a:srgbClr val="FFFFFF"/>
      </a:lt1>
      <a:dk2>
        <a:srgbClr val="16324F"/>
      </a:dk2>
      <a:lt2>
        <a:srgbClr val="EEF3F8"/>
      </a:lt2>
      <a:accent1>
        <a:srgbClr val="2A78D6"/>
      </a:accent1>
      <a:accent2>
        <a:srgbClr val="EB6834"/>
      </a:accent2>
      <a:accent3>
        <a:srgbClr val="6B7280"/>
      </a:accent3>
      <a:accent4>
        <a:srgbClr val="1BAF7A"/>
      </a:accent4>
      <a:accent5>
        <a:srgbClr val="C7D2DE"/>
      </a:accent5>
      <a:accent6>
        <a:srgbClr val="F2B134"/>
      </a:accent6>
      <a:hlink>
        <a:srgbClr val="2A78D6"/>
      </a:hlink>
      <a:folHlink>
        <a:srgbClr val="6B7280"/>
      </a:folHlink>
    </a:clrScheme>
    <a:fontScheme name="Adaptive Schedul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 CPU Scheduling - Review 3</dc:title>
  <dc:subject>PptxGenJS Presentation</dc:subject>
  <dc:creator>Shivaansh Aggarwal, Devansh Sharma</dc:creator>
  <cp:lastModifiedBy>Shivaansh Aggarwal, Devansh Sharma</cp:lastModifiedBy>
  <cp:revision>1</cp:revision>
  <dcterms:created xsi:type="dcterms:W3CDTF">2026-10-21T07:06:35Z</dcterms:created>
  <dcterms:modified xsi:type="dcterms:W3CDTF">2026-10-21T07:06:35Z</dcterms:modified>
</cp:coreProperties>
</file>